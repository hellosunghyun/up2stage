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“Unfold Pages to Structured, Trusted, Accessible Guidance for Everyone.”</a:t>
            </a:r>
          </a:p>
          <a:p>
            <a:pPr/>
            <a:r>
              <a:t>안녕하세요. 저희는 프로젝트 UP to STAGE를 소개하게 된 Team GOODMORNING 입니다.</a:t>
            </a:r>
            <a:br/>
          </a:p>
          <a:p>
            <a:pPr/>
            <a:r>
              <a:t>Min Hyeok Lee / Sunghyun Kim / Si Won Lee</a:t>
            </a:r>
          </a:p>
          <a:p>
            <a:pPr/>
            <a:r>
              <a:t>저희 프로젝트의 출발점은 하나의 문장이었습니다.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“Unfold Pages to Structured, Trusted, Accessible Guidance for Everyone.”</a:t>
            </a:r>
          </a:p>
          <a:p>
            <a:pPr/>
            <a:r>
              <a:t>안녕하세요. 저희는 프로젝트 UP to STAGE를 소개하게 된 Team GOODMORNING 입니다.</a:t>
            </a:r>
            <a:br/>
          </a:p>
          <a:p>
            <a:pPr/>
            <a:r>
              <a:t>Min Hyeok Lee / Sunghyun Kim / Si Won Lee</a:t>
            </a:r>
          </a:p>
          <a:p>
            <a:pPr/>
            <a:r>
              <a:t>저희 프로젝트의 출발점은 하나의 문장이었습니다.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Shape 2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저희가 처음 가지고 있던 생각은 간단했습니다.</a:t>
            </a:r>
            <a:br/>
          </a:p>
          <a:p>
            <a:pPr/>
            <a:r>
              <a:t>"Opportunity for Everyone."</a:t>
            </a:r>
          </a:p>
          <a:p>
            <a:pPr/>
            <a:r>
              <a:t>기회는 모두에게 제공되어야 한다고 생각했습니다.</a:t>
            </a:r>
            <a:br/>
          </a:p>
          <a:p>
            <a:pPr/>
            <a:r>
              <a:t>그런데 기회가 존재한다는 것과,</a:t>
            </a:r>
          </a:p>
          <a:p>
            <a:pPr/>
            <a:r>
              <a:t>누구나 그 기회를 발견하고 이해하고 실제로 행동할 수 있다는 건 다릅니다.</a:t>
            </a:r>
            <a:br/>
          </a:p>
          <a:p>
            <a:pPr/>
            <a:r>
              <a:t>Discover, Understand, Verify, Act</a:t>
            </a:r>
          </a:p>
          <a:p>
            <a:pPr/>
            <a:r>
              <a:t>기회에 누군가에게 도달하려면 이 모든 과정이 필요합니다.</a:t>
            </a:r>
          </a:p>
          <a:p>
            <a:pPr/>
            <a:br/>
            <a:r>
              <a:t>저희는 그 사이에서 사람이 놓치는 지점을 문제로 봤습니다.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4" name="Shape 2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그래서 저희는 대학생이 실제로 기회를 마주치는 과정을 봤습니다.</a:t>
            </a:r>
            <a:br/>
          </a:p>
          <a:p>
            <a:pPr/>
            <a:r>
              <a:t>하나의 장학금이나 지원사업에 신청하려고 해도</a:t>
            </a:r>
          </a:p>
          <a:p>
            <a:pPr/>
            <a:r>
              <a:rPr>
                <a:solidFill>
                  <a:schemeClr val="accent5">
                    <a:hueOff val="106044"/>
                    <a:satOff val="10158"/>
                    <a:lumOff val="16042"/>
                  </a:schemeClr>
                </a:solidFill>
              </a:rPr>
              <a:t>정보</a:t>
            </a:r>
            <a:r>
              <a:t>는 웹페이지, PDF, HWP, 신청서, 기준표와 체크리스트로 나뉘어 있습니다.</a:t>
            </a:r>
            <a:br/>
          </a:p>
          <a:p>
            <a:pPr/>
            <a:r>
              <a:t>사용자는 이것들을 직접 찾고, 열고, 서로 비교한 다음</a:t>
            </a:r>
          </a:p>
          <a:p>
            <a:pPr/>
            <a:r>
              <a:t>결국 하나의 결정을 만들어야 합니다.</a:t>
            </a:r>
            <a:br/>
          </a:p>
          <a:p>
            <a:pPr/>
            <a:r>
              <a:t>그래서 저희가 정의한 문제는 "긴 문서를 읽기 어렵다"가 아닙니다.</a:t>
            </a:r>
          </a:p>
          <a:p>
            <a:pPr/>
            <a:r>
              <a:t>여러 문서에 흩어진 정보를 하나의 행동 가능한 판단으로 통합해야 한다는 것입니다.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4" name="Shape 2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실제로 저희가 오늘 데모에 사용하는 공고입니다.</a:t>
            </a:r>
            <a:br/>
            <a:r>
              <a:t>(대략적인 공고 설명)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게시글은 하나지만, 사용자가 판단을 내리려면 역할이 다른 여러 첨부문서를 함께 봐야 합니다.</a:t>
            </a:r>
            <a:br/>
            <a:br/>
            <a:r>
              <a:t>그런데 사용자가 궁금한 것은 파일 각각의 요약이 아닙니다.</a:t>
            </a:r>
          </a:p>
          <a:p>
            <a:pPr/>
            <a:r>
              <a:t>"내가 지원할 수 있는지, 언제까지 무엇을 준비해야 하고, 그 근거가 어디 있는지"입니다.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3" name="Shape 2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이를 위해 저희는 문서 전체를 한 번에 LLM에게 넘기지 않았습니다.</a:t>
            </a:r>
            <a:br/>
          </a:p>
          <a:p>
            <a:pPr/>
            <a:r>
              <a:t>Upstage의 각 기술에 명확하게 다른 책임을 부여했습니다.</a:t>
            </a:r>
            <a:br/>
          </a:p>
          <a:p>
            <a:pPr/>
            <a:r>
              <a:t>Document Parse가 문서들의 표, 페이지와 좌표를 식별하고 구조화하며,</a:t>
            </a:r>
          </a:p>
          <a:p>
            <a:pPr/>
            <a:r>
              <a:t>Classify가 각 문서의 역할을 판단합니다.</a:t>
            </a:r>
            <a:br/>
          </a:p>
          <a:p>
            <a:pPr/>
            <a:r>
              <a:t>Extract가 역할에 필요한 정보만 구조적으로 뽑고,</a:t>
            </a:r>
          </a:p>
          <a:p>
            <a:pPr/>
            <a:r>
              <a:t>Search가 질문과 관련된 범위를 좁힌 뒤 Solar가 질문에 맞는 답변과 판단의 근거를 제공합니다.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6" name="Shape 2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여기서 중요한 점은 문서마다 같은 (추출양식 즉,)Extraction Schema를 사용하지 않는다는 것입니다.</a:t>
            </a:r>
            <a:br/>
          </a:p>
          <a:p>
            <a:pPr/>
            <a:r>
              <a:t>예를 들어 공고에서는 혜택과 일정을 보고,</a:t>
            </a:r>
          </a:p>
          <a:p>
            <a:pPr/>
            <a:r>
              <a:t>자격 기준에서는 조건과 예외를 보고,</a:t>
            </a:r>
          </a:p>
          <a:p>
            <a:pPr/>
            <a:r>
              <a:t>신청서는 입력 항목을 봅니다.</a:t>
            </a:r>
            <a:br/>
          </a:p>
          <a:p>
            <a:pPr/>
            <a:r>
              <a:t>즉 Classify가 문서의 역할을 구분하고, 그 역할에 맞는 Extract를 연결하는 Agent 구조입니다.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긴 문서는 다시 Section 단위로 나눠 Search에 넣습니다.</a:t>
            </a:r>
            <a:br/>
          </a:p>
          <a:p>
            <a:pPr/>
            <a:r>
              <a:t>Heading이 있다면 Heading을 사용하지만, H2가 없는 문서도 있기 때문에</a:t>
            </a:r>
          </a:p>
          <a:p>
            <a:pPr/>
            <a:r>
              <a:t>번호 구조, 표와 목록, 길이 같은 경계를 함께 사용합니다.</a:t>
            </a:r>
            <a:br/>
          </a:p>
          <a:p>
            <a:pPr/>
            <a:r>
              <a:t>그리고 중요한 건 Search 자체를 최종 근거로 사용하지 않는다는 점입니다.</a:t>
            </a:r>
          </a:p>
          <a:p>
            <a:pPr/>
            <a:r>
              <a:t>Search는 "어디를 봐야 하는지"를 좁히고,</a:t>
            </a:r>
          </a:p>
          <a:p>
            <a:pPr/>
            <a:r>
              <a:t>그 범위 안에서 Solar가 실제 원문 element를 선택합니다.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Shape 3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 원본 element에는 하나의 Source ID를 부여합니다.</a:t>
            </a:r>
            <a:br/>
          </a:p>
          <a:p>
            <a:pPr/>
            <a:r>
              <a:t>그리고 같은 Source ID를 AI의 판단, 원문 Highlight, Accessible View가 함께 사용합니다.</a:t>
            </a:r>
            <a:br/>
          </a:p>
          <a:p>
            <a:pPr/>
            <a:r>
              <a:t>그래서 사용자가 어떤 결과를 보더라도</a:t>
            </a:r>
          </a:p>
          <a:p>
            <a:pPr/>
            <a:r>
              <a:t>"이 판단이 실제로 어디에서 나온 것인지" 다시 원문으로 돌아갈 수 있습니다.</a:t>
            </a:r>
            <a:br/>
          </a:p>
          <a:p>
            <a:pPr/>
            <a:r>
              <a:t>Every Answer Has a Place.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실제 사용자 Flow는 이렇게 단순합니다.</a:t>
            </a:r>
            <a:br/>
          </a:p>
          <a:p>
            <a:pPr/>
            <a:r>
              <a:t>현재 보고 있는 페이지에서 관련 문서를 발견하고 선택합니다.</a:t>
            </a:r>
          </a:p>
          <a:p>
            <a:pPr/>
            <a:r>
              <a:t>(고정 데모 URL에서 Contextual Overlay 스크린샷 표시)</a:t>
            </a:r>
          </a:p>
          <a:p>
            <a:pPr/>
            <a:r>
              <a:t>(관련 문서 목록 → 선택 화면 전환)</a:t>
            </a:r>
            <a:br/>
          </a:p>
          <a:p>
            <a:pPr/>
            <a:r>
              <a:t>처리가 끝나면 사용자는 "핵심 안내 보기"와 "구조화 문서 직접 탐색" 중 하나를 선택할 수 있습니다.</a:t>
            </a:r>
          </a:p>
          <a:p>
            <a:pPr/>
            <a:r>
              <a:t>(두 개의 선택지 화면)</a:t>
            </a:r>
            <a:br/>
          </a:p>
          <a:p>
            <a:pPr/>
            <a:r>
              <a:t>먼저 핵심 안내에서는 마감, 조건, 제출 서류와 지금 해야 할 일을 확인합니다.</a:t>
            </a:r>
          </a:p>
          <a:p>
            <a:pPr/>
            <a:r>
              <a:t>(Overview 화면)</a:t>
            </a:r>
            <a:br/>
          </a:p>
          <a:p>
            <a:pPr/>
            <a:r>
              <a:t>그리고 "나는 지원할 수 있나요?" Quick Action을 선택합니다.</a:t>
            </a:r>
          </a:p>
          <a:p>
            <a:pPr/>
            <a:r>
              <a:t>(Quick Action → 간단한 개인정보가 아닌 조건 입력 Form)</a:t>
            </a:r>
            <a:br/>
          </a:p>
          <a:p>
            <a:pPr/>
            <a:r>
              <a:t>자신의 상황을 입력하면 조건별 충족 여부와 실제 근거를 확인할 수 있습니다.</a:t>
            </a:r>
          </a:p>
          <a:p>
            <a:pPr/>
            <a:r>
              <a:t>(결과 화면에서 근거 표시)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1" name="Shape 3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그리고 저희가 중요하게 본 또 하나는 접근성입니다.</a:t>
            </a:r>
            <a:br/>
          </a:p>
          <a:p>
            <a:pPr/>
            <a:r>
              <a:t>AI가 문서를 정확하게 이해하기 위해 복원한 구조라면,</a:t>
            </a:r>
          </a:p>
          <a:p>
            <a:pPr>
              <a:defRPr>
                <a:solidFill>
                  <a:schemeClr val="accent5">
                    <a:hueOff val="106044"/>
                    <a:satOff val="10158"/>
                    <a:lumOff val="16042"/>
                  </a:schemeClr>
                </a:solidFill>
              </a:defRPr>
            </a:pPr>
            <a:r>
              <a:t>AI가 문서의 맥락을 완벽히 파악해 만들어낸 이 구조는</a:t>
            </a:r>
          </a:p>
          <a:p>
            <a:pPr/>
            <a:r>
              <a:t>그 구조는 AI만 사용할 이유가 없습니다.</a:t>
            </a:r>
            <a:br/>
          </a:p>
          <a:p>
            <a:pPr/>
            <a:r>
              <a:t>저희는 원본 Visual Source 위에 제목, 표, 목록과 읽기 순서를 가진 Semantic Accessibility Layer를 만들고,</a:t>
            </a:r>
          </a:p>
          <a:p>
            <a:pPr/>
            <a:r>
              <a:t>그 위에 문서가 사용자에게 어떤 의미인지 알려주는 Intelligence Guidance Layer를 더했습니다.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(15초 영상 시작)</a:t>
            </a:r>
          </a:p>
          <a:p>
            <a:pPr/>
            <a:r>
              <a:t>(원본 문서 위에 세 레이어가 차례대로 나타남)</a:t>
            </a:r>
          </a:p>
          <a:p>
            <a:pPr/>
            <a:r>
              <a:t>(키보드로 Heading Navigation)</a:t>
            </a:r>
          </a:p>
          <a:p>
            <a:pPr/>
            <a:r>
              <a:t>"지원 자격, Heading Level 2."</a:t>
            </a:r>
          </a:p>
          <a:p>
            <a:pPr/>
            <a:r>
              <a:t>(원문 해당 영역 Highlight)</a:t>
            </a:r>
          </a:p>
          <a:p>
            <a:pPr/>
            <a:r>
              <a:t>"네 개의 주요 조건이 있습니다. 학년, 지원구간, 성적, 소속 대학 조건입니다."</a:t>
            </a:r>
          </a:p>
          <a:p>
            <a:pPr/>
            <a:r>
              <a:t>(영상 종료)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Shape 3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론 이 기능들 하나하나가 세상에 처음 존재하는 것은 아닙니다.</a:t>
            </a:r>
          </a:p>
          <a:p>
            <a:pPr/>
            <a:r>
              <a:t>ChatGPT, Gemini Notebook, Acrobat AI 등의 AI 프로덕트가 각각 잘하는 영역이 있습니다.</a:t>
            </a:r>
          </a:p>
          <a:p>
            <a:pPr/>
          </a:p>
          <a:p>
            <a:pPr/>
            <a:r>
              <a:t>저희가 다르게 본 지점은 한 기능의 우열이 아니라,</a:t>
            </a:r>
            <a:br/>
          </a:p>
          <a:p>
            <a:pPr/>
            <a:r>
              <a:t>현재 페이지의 문서 묶음부터 구조, 판단, 원문 Highlight와 접근성까지</a:t>
            </a:r>
          </a:p>
          <a:p>
            <a:pPr/>
            <a:r>
              <a:t>하나의 Evidence Layer로 연결하는 제품 경험입니다.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9" name="Shape 3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결국 UP²STAGE가 만들고 싶은 것은 더 좋은 요약 하나가 아닙니다.</a:t>
            </a:r>
            <a:br/>
          </a:p>
          <a:p>
            <a:pPr/>
            <a:r>
              <a:t>Structured.</a:t>
            </a:r>
          </a:p>
          <a:p>
            <a:pPr/>
            <a:r>
              <a:t>문서의 구조를 이해합니다.</a:t>
            </a:r>
          </a:p>
          <a:p>
            <a:pPr/>
            <a:r>
              <a:t>Trusted.</a:t>
            </a:r>
          </a:p>
          <a:p>
            <a:pPr/>
            <a:r>
              <a:t>중요한 판단은 언제든 실제 근거로 돌아갈 수 있습니다.</a:t>
            </a:r>
          </a:p>
          <a:p>
            <a:pPr/>
            <a:r>
              <a:t>Accessible.</a:t>
            </a:r>
          </a:p>
          <a:p>
            <a:pPr/>
            <a:r>
              <a:t>그리고 같은 구조를 각자가 자신에게 맞는 방식으로 탐색할 수 있습니다.</a:t>
            </a:r>
            <a:br/>
          </a:p>
          <a:p>
            <a:pPr/>
            <a:r>
              <a:t>Intelligence should not hide the document. It should unfold it.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5" name="Shape 3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3일이라는 제한된 시간 안에서는 의도적으로 장학금이라는 하나의 Workflow에 집중했습니다.</a:t>
            </a:r>
          </a:p>
          <a:p>
            <a:pPr/>
          </a:p>
          <a:p>
            <a:pPr/>
            <a:r>
              <a:t>지금의 데모는 사용자가 현재 보고 있는 페이지에서 UP²STAGE를 실행하고, 필요한 문서들을 그때 분석해서 하나의 End-to-End 경험을 완성하는 단계입니다. 같은 문서는 Cache를 활용해 불필요한 반복 처리를 줄입니다.</a:t>
            </a:r>
          </a:p>
          <a:p>
            <a:pPr/>
          </a:p>
          <a:p>
            <a:pPr/>
            <a:r>
              <a:t>(장표의 NEXT로 이동)</a:t>
            </a:r>
          </a:p>
          <a:p>
            <a:pPr/>
          </a:p>
          <a:p>
            <a:pPr/>
            <a:r>
              <a:t>Next에서는 단순히 장학금 문서 처리를 하는 것이 아니라, 한 번 이해한 문서의 구조와 근거, 접근성 정보를 Document Context로 재사용합니다.</a:t>
            </a:r>
          </a:p>
          <a:p>
            <a:pPr/>
          </a:p>
          <a:p>
            <a:pPr/>
            <a:r>
              <a:t>그러면 기숙사, 교환학생, 인턴십처럼 Workflow가 달라져도 이미 이해한 문서를 다시 처음부터 처리하지 않고 이어서 사용할 수 있습니다.</a:t>
            </a:r>
          </a:p>
          <a:p>
            <a:pPr/>
          </a:p>
          <a:p>
            <a:pPr/>
            <a:r>
              <a:t>(배경 marquee가 천천히 움직임)</a:t>
            </a:r>
          </a:p>
          <a:p>
            <a:pPr/>
          </a:p>
          <a:p>
            <a:pPr/>
            <a:r>
              <a:t>장기적으로는 이 Context가 일회성 분석 결과가 아니라 계속 유지되는 구조가 됩니다.</a:t>
            </a:r>
          </a:p>
          <a:p>
            <a:pPr/>
          </a:p>
          <a:p>
            <a:pPr/>
            <a:r>
              <a:t>원본 문서가 변경됐을 때 필요한 부분만 다시 분석하고, 여러 Workflow가 같은 Document Context를 공유할 수 있습니다.</a:t>
            </a:r>
          </a:p>
          <a:p>
            <a:pPr/>
          </a:p>
          <a:p>
            <a:pPr/>
            <a:r>
              <a:t>결국 저희가 확장하려는 것은 장학금 기능의 개수가 아니라, 다양한 문서 경험이 공통으로 사용할 수 있는 Document Layer입니다.</a:t>
            </a:r>
          </a:p>
          <a:p>
            <a:pPr/>
          </a:p>
          <a:p>
            <a:pPr/>
            <a:r>
              <a:t>Today, users bring UP²STAGE to documents.</a:t>
            </a:r>
          </a:p>
          <a:p>
            <a:pPr/>
          </a:p>
          <a:p>
            <a:pPr/>
            <a:r>
              <a:t>Future, documents can come with UP²STAGE.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2" name="Shape 3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사업 측면에서도 저희는 B2C를 최종 목적지라기보다, 실제 수요를 검증하기 위한 시작점으로 보고 있습니다.</a:t>
            </a:r>
            <a:br/>
          </a:p>
          <a:p>
            <a:pPr/>
            <a:r>
              <a:t>학생과 개인 사용자를 통해</a:t>
            </a:r>
          </a:p>
          <a:p>
            <a:pPr/>
            <a:r>
              <a:t>정말 반복해서 사용하는지, 어떤 Workflow에서 가치가 큰지, 실제로 시간을 줄이고 중요한 실수를 줄이는지를 먼저 확인합니다.</a:t>
            </a:r>
            <a:br/>
          </a:p>
          <a:p>
            <a:pPr/>
            <a:r>
              <a:t>그 이후에는 대학, 장학재단이나 공공기관처럼 문서를 제공하는 쪽도 고객이 될 수 있습니다.</a:t>
            </a:r>
          </a:p>
          <a:p>
            <a:pPr/>
            <a:r>
              <a:t>지금은 사용자가 UP²STAGE를 사이트로 가져오지만,</a:t>
            </a:r>
            <a:br/>
          </a:p>
          <a:p>
            <a:pPr/>
            <a:r>
              <a:t>(Chrome Extension 아이콘에서 기관 사이트로 시선 이동)</a:t>
            </a:r>
          </a:p>
          <a:p>
            <a:pPr/>
            <a:r>
              <a:t>미래에는 기관이 간단한 integration을 통해 UP²STAGE를 방문자 모두에게 제공할 수도 있습니다.</a:t>
            </a:r>
            <a:br/>
          </a:p>
          <a:p>
            <a:pPr/>
            <a:r>
              <a:t>그렇게 되면 BM이 존재하더라도, 실제 사용자는 별도의 비용을 내지 않고 정확하고 Accessible한 공공 문서 경험을 사용할 수도 있습니다.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6" name="Shape 3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저희가 시작했던 문장으로 돌아가겠습니다.</a:t>
            </a:r>
            <a:br/>
          </a:p>
          <a:p>
            <a:pPr/>
            <a:r>
              <a:t>"Opportunity for Everyone."</a:t>
            </a:r>
          </a:p>
          <a:p>
            <a:pPr/>
            <a:r>
              <a:t>기회는 모두에게 제공되어야 하니까.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9" name="Shape 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(UP²STAGE 로고만 남기고 종료)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푸른 언덕 풍경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슬라이드 제목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슬라이드 제목</a:t>
            </a:r>
          </a:p>
        </p:txBody>
      </p:sp>
      <p:sp>
        <p:nvSpPr>
          <p:cNvPr id="33" name="본문 첫 번째 줄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이끼에 덮인 돌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1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62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어두운 구름 아래 흙길을 전경으로 두고 형성된 커다란 바위의 대형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72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7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2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83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100" name="슬라이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109" name="의제 부제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의제 부제</a:t>
            </a:r>
          </a:p>
        </p:txBody>
      </p:sp>
      <p:sp>
        <p:nvSpPr>
          <p:cNvPr id="110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실 정보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사실 정보</a:t>
            </a:r>
          </a:p>
        </p:txBody>
      </p:sp>
      <p:sp>
        <p:nvSpPr>
          <p:cNvPr id="127" name="본문 첫 번째 줄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돌 사이로 자라는 야생 식물의 모습을 근접 촬영한 사진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어두운 구름 아래 흙길을 전경으로 두고 형성된 커다란 바위의 대형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화산암 사이로 자라는 야생 식물을 근접 촬영한 사진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푸른 암벽으로 둘러싸인 폭포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in Hyeok Lee · Sung hyun Kim · Si Won Lee"/>
          <p:cNvSpPr txBox="1"/>
          <p:nvPr/>
        </p:nvSpPr>
        <p:spPr>
          <a:xfrm>
            <a:off x="16818601" y="12046272"/>
            <a:ext cx="6236792" cy="94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30000"/>
              </a:lnSpc>
              <a:spcBef>
                <a:spcPts val="0"/>
              </a:spcBef>
              <a:defRPr sz="24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Min Hyeok Lee · Sung hyun Kim · Si Won Lee</a:t>
            </a:r>
          </a:p>
        </p:txBody>
      </p:sp>
      <p:grpSp>
        <p:nvGrpSpPr>
          <p:cNvPr id="176" name="그룹화"/>
          <p:cNvGrpSpPr/>
          <p:nvPr/>
        </p:nvGrpSpPr>
        <p:grpSpPr>
          <a:xfrm>
            <a:off x="1237409" y="1132848"/>
            <a:ext cx="9794103" cy="832898"/>
            <a:chOff x="0" y="0"/>
            <a:chExt cx="9794101" cy="832896"/>
          </a:xfrm>
        </p:grpSpPr>
        <p:pic>
          <p:nvPicPr>
            <p:cNvPr id="172" name="Upstage Studio - Black.svg" descr="Upstage Studio - Black.sv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2258325" y="127364"/>
              <a:ext cx="3806942" cy="5273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3" name="SP4-Logo-White.png" descr="SP4-Logo-Whit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6652843" y="0"/>
              <a:ext cx="3141259" cy="8328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4" name="·"/>
            <p:cNvSpPr txBox="1"/>
            <p:nvPr/>
          </p:nvSpPr>
          <p:spPr>
            <a:xfrm>
              <a:off x="6282804" y="48199"/>
              <a:ext cx="241403" cy="634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pPr/>
              <a:r>
                <a:t>·</a:t>
              </a:r>
            </a:p>
          </p:txBody>
        </p:sp>
        <p:sp>
          <p:nvSpPr>
            <p:cNvPr id="175" name="Powered by"/>
            <p:cNvSpPr txBox="1"/>
            <p:nvPr/>
          </p:nvSpPr>
          <p:spPr>
            <a:xfrm>
              <a:off x="0" y="156098"/>
              <a:ext cx="1754684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Wanted Sans Regular"/>
                  <a:ea typeface="Wanted Sans Regular"/>
                  <a:cs typeface="Wanted Sans Regular"/>
                  <a:sym typeface="Wanted Sans Regular"/>
                </a:defRPr>
              </a:lvl1pPr>
            </a:lstStyle>
            <a:p>
              <a:pPr/>
              <a:r>
                <a:t>Powered by</a:t>
              </a:r>
            </a:p>
          </p:txBody>
        </p:sp>
      </p:grpSp>
      <p:sp>
        <p:nvSpPr>
          <p:cNvPr id="177" name="Project"/>
          <p:cNvSpPr txBox="1"/>
          <p:nvPr/>
        </p:nvSpPr>
        <p:spPr>
          <a:xfrm>
            <a:off x="1308860" y="4415342"/>
            <a:ext cx="160332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Project</a:t>
            </a:r>
          </a:p>
        </p:txBody>
      </p:sp>
      <p:sp>
        <p:nvSpPr>
          <p:cNvPr id="178" name="Unfold Pages to Structured, Trusted, Accessible Guidance for Everyone."/>
          <p:cNvSpPr txBox="1"/>
          <p:nvPr/>
        </p:nvSpPr>
        <p:spPr>
          <a:xfrm>
            <a:off x="1269408" y="8047203"/>
            <a:ext cx="1526842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U</a:t>
            </a:r>
            <a:r>
              <a:t>nfold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P</a:t>
            </a:r>
            <a:r>
              <a:t>ages to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S</a:t>
            </a:r>
            <a:r>
              <a:t>tructured,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T</a:t>
            </a:r>
            <a:r>
              <a:t>rusted,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A</a:t>
            </a:r>
            <a:r>
              <a:t>ccessible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G</a:t>
            </a:r>
            <a:r>
              <a:t>uidance for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E</a:t>
            </a:r>
            <a:r>
              <a:t>veryone.</a:t>
            </a:r>
          </a:p>
        </p:txBody>
      </p:sp>
      <p:sp>
        <p:nvSpPr>
          <p:cNvPr id="179" name="TEAM GOODMORNING"/>
          <p:cNvSpPr txBox="1"/>
          <p:nvPr/>
        </p:nvSpPr>
        <p:spPr>
          <a:xfrm>
            <a:off x="1249001" y="11930702"/>
            <a:ext cx="5097960" cy="117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30000"/>
              </a:lnSpc>
              <a:spcBef>
                <a:spcPts val="0"/>
              </a:spcBef>
              <a:defRPr sz="36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TEAM GOODMORNING</a:t>
            </a:r>
          </a:p>
        </p:txBody>
      </p:sp>
      <p:pic>
        <p:nvPicPr>
          <p:cNvPr id="180" name="붙여넣은 동영상.png" descr="붙여넣은 동영상.png"/>
          <p:cNvPicPr>
            <a:picLocks noChangeAspect="1"/>
          </p:cNvPicPr>
          <p:nvPr/>
        </p:nvPicPr>
        <p:blipFill>
          <a:blip r:embed="rId5">
            <a:extLst/>
          </a:blip>
          <a:srcRect l="0" t="42559" r="0" b="41294"/>
          <a:stretch>
            <a:fillRect/>
          </a:stretch>
        </p:blipFill>
        <p:spPr>
          <a:xfrm>
            <a:off x="685800" y="5292636"/>
            <a:ext cx="12216373" cy="24392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Min Hyeok Lee · Sung hyun Kim · Si Won Lee"/>
          <p:cNvSpPr txBox="1"/>
          <p:nvPr/>
        </p:nvSpPr>
        <p:spPr>
          <a:xfrm>
            <a:off x="16818601" y="12046272"/>
            <a:ext cx="6236792" cy="948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30000"/>
              </a:lnSpc>
              <a:spcBef>
                <a:spcPts val="0"/>
              </a:spcBef>
              <a:defRPr sz="24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Min Hyeok Lee · Sung hyun Kim · Si Won Lee</a:t>
            </a:r>
          </a:p>
        </p:txBody>
      </p:sp>
      <p:grpSp>
        <p:nvGrpSpPr>
          <p:cNvPr id="189" name="그룹화"/>
          <p:cNvGrpSpPr/>
          <p:nvPr/>
        </p:nvGrpSpPr>
        <p:grpSpPr>
          <a:xfrm>
            <a:off x="1237409" y="1132848"/>
            <a:ext cx="9794103" cy="832898"/>
            <a:chOff x="0" y="0"/>
            <a:chExt cx="9794101" cy="832896"/>
          </a:xfrm>
        </p:grpSpPr>
        <p:pic>
          <p:nvPicPr>
            <p:cNvPr id="185" name="Upstage Studio - Black.svg" descr="Upstage Studio - Black.sv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2258325" y="127364"/>
              <a:ext cx="3806942" cy="5273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6" name="SP4-Logo-White.png" descr="SP4-Logo-Whit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6652843" y="0"/>
              <a:ext cx="3141259" cy="8328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7" name="·"/>
            <p:cNvSpPr txBox="1"/>
            <p:nvPr/>
          </p:nvSpPr>
          <p:spPr>
            <a:xfrm>
              <a:off x="6282804" y="48199"/>
              <a:ext cx="241403" cy="634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/>
              </a:lvl1pPr>
            </a:lstStyle>
            <a:p>
              <a:pPr/>
              <a:r>
                <a:t>·</a:t>
              </a:r>
            </a:p>
          </p:txBody>
        </p:sp>
        <p:sp>
          <p:nvSpPr>
            <p:cNvPr id="188" name="Powered by"/>
            <p:cNvSpPr txBox="1"/>
            <p:nvPr/>
          </p:nvSpPr>
          <p:spPr>
            <a:xfrm>
              <a:off x="0" y="156098"/>
              <a:ext cx="1754684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>
                  <a:latin typeface="Wanted Sans Regular"/>
                  <a:ea typeface="Wanted Sans Regular"/>
                  <a:cs typeface="Wanted Sans Regular"/>
                  <a:sym typeface="Wanted Sans Regular"/>
                </a:defRPr>
              </a:lvl1pPr>
            </a:lstStyle>
            <a:p>
              <a:pPr/>
              <a:r>
                <a:t>Powered by</a:t>
              </a:r>
            </a:p>
          </p:txBody>
        </p:sp>
      </p:grpSp>
      <p:sp>
        <p:nvSpPr>
          <p:cNvPr id="190" name="Project"/>
          <p:cNvSpPr txBox="1"/>
          <p:nvPr/>
        </p:nvSpPr>
        <p:spPr>
          <a:xfrm>
            <a:off x="1308860" y="3901100"/>
            <a:ext cx="160332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Project</a:t>
            </a:r>
          </a:p>
        </p:txBody>
      </p:sp>
      <p:sp>
        <p:nvSpPr>
          <p:cNvPr id="191" name="Unfold Pages to Structured, Trusted, Accessible Guidance for Everyone."/>
          <p:cNvSpPr txBox="1"/>
          <p:nvPr/>
        </p:nvSpPr>
        <p:spPr>
          <a:xfrm>
            <a:off x="1269408" y="8047203"/>
            <a:ext cx="1526842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U</a:t>
            </a:r>
            <a:r>
              <a:t>nfold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P</a:t>
            </a:r>
            <a:r>
              <a:t>ages to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S</a:t>
            </a:r>
            <a:r>
              <a:t>tructured,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T</a:t>
            </a:r>
            <a:r>
              <a:t>rusted,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A</a:t>
            </a:r>
            <a:r>
              <a:t>ccessible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G</a:t>
            </a:r>
            <a:r>
              <a:t>uidance for </a:t>
            </a:r>
            <a:r>
              <a:rPr>
                <a:latin typeface="Wanted Sans ExtraBlack"/>
                <a:ea typeface="Wanted Sans ExtraBlack"/>
                <a:cs typeface="Wanted Sans ExtraBlack"/>
                <a:sym typeface="Wanted Sans ExtraBlack"/>
              </a:rPr>
              <a:t>E</a:t>
            </a:r>
            <a:r>
              <a:t>veryone.</a:t>
            </a:r>
          </a:p>
        </p:txBody>
      </p:sp>
      <p:sp>
        <p:nvSpPr>
          <p:cNvPr id="192" name="TEAM GOODMORNING"/>
          <p:cNvSpPr txBox="1"/>
          <p:nvPr/>
        </p:nvSpPr>
        <p:spPr>
          <a:xfrm>
            <a:off x="1249001" y="11930702"/>
            <a:ext cx="5097960" cy="117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30000"/>
              </a:lnSpc>
              <a:spcBef>
                <a:spcPts val="0"/>
              </a:spcBef>
              <a:defRPr sz="36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TEAM GOODMORNING</a:t>
            </a:r>
          </a:p>
        </p:txBody>
      </p:sp>
      <p:pic>
        <p:nvPicPr>
          <p:cNvPr id="193" name="붙여넣은 동영상.png" descr="붙여넣은 동영상.png"/>
          <p:cNvPicPr>
            <a:picLocks noChangeAspect="1"/>
          </p:cNvPicPr>
          <p:nvPr/>
        </p:nvPicPr>
        <p:blipFill>
          <a:blip r:embed="rId5">
            <a:extLst/>
          </a:blip>
          <a:srcRect l="0" t="42039" r="0" b="42039"/>
          <a:stretch>
            <a:fillRect/>
          </a:stretch>
        </p:blipFill>
        <p:spPr>
          <a:xfrm>
            <a:off x="617051" y="4827449"/>
            <a:ext cx="14937441" cy="29411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Opportunity for Everyone."/>
          <p:cNvSpPr txBox="1"/>
          <p:nvPr/>
        </p:nvSpPr>
        <p:spPr>
          <a:xfrm>
            <a:off x="1243336" y="6365445"/>
            <a:ext cx="16107967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9600"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Opportunity for Everyone.</a:t>
            </a:r>
          </a:p>
        </p:txBody>
      </p:sp>
      <p:sp>
        <p:nvSpPr>
          <p:cNvPr id="198" name="Existing ≠ Accessible"/>
          <p:cNvSpPr txBox="1"/>
          <p:nvPr/>
        </p:nvSpPr>
        <p:spPr>
          <a:xfrm>
            <a:off x="1282820" y="8239555"/>
            <a:ext cx="600670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Existing ≠ Accessible</a:t>
            </a:r>
          </a:p>
        </p:txBody>
      </p:sp>
      <p:sp>
        <p:nvSpPr>
          <p:cNvPr id="199" name="Target Valu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Target Value</a:t>
            </a:r>
          </a:p>
        </p:txBody>
      </p:sp>
      <p:sp>
        <p:nvSpPr>
          <p:cNvPr id="200" name="원"/>
          <p:cNvSpPr/>
          <p:nvPr/>
        </p:nvSpPr>
        <p:spPr>
          <a:xfrm>
            <a:off x="21118816" y="-2090847"/>
            <a:ext cx="17897694" cy="17897694"/>
          </a:xfrm>
          <a:prstGeom prst="ellipse">
            <a:avLst/>
          </a:prstGeom>
          <a:solidFill>
            <a:srgbClr val="9CFF95">
              <a:alpha val="0"/>
            </a:srgbClr>
          </a:solidFill>
          <a:ln w="12700">
            <a:miter lim="400000"/>
          </a:ln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1" name="Opportunityㅤ…"/>
          <p:cNvSpPr txBox="1"/>
          <p:nvPr/>
        </p:nvSpPr>
        <p:spPr>
          <a:xfrm>
            <a:off x="5517778" y="-1"/>
            <a:ext cx="20442547" cy="137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r" defTabSz="457200">
              <a:lnSpc>
                <a:spcPct val="140000"/>
              </a:lnSpc>
              <a:spcBef>
                <a:spcPts val="0"/>
              </a:spcBef>
              <a:defRPr sz="11200">
                <a:solidFill>
                  <a:srgbClr val="FFFFFF">
                    <a:alpha val="20000"/>
                  </a:srgbClr>
                </a:solidFill>
                <a:latin typeface="Wanted Sans ExtraBlack"/>
                <a:ea typeface="Wanted Sans ExtraBlack"/>
                <a:cs typeface="Wanted Sans ExtraBlack"/>
                <a:sym typeface="Wanted Sans ExtraBlack"/>
              </a:defRPr>
            </a:pPr>
            <a:r>
              <a:t>Opportunityㅤ   </a:t>
            </a:r>
          </a:p>
          <a:p>
            <a:pPr algn="r" defTabSz="457200">
              <a:lnSpc>
                <a:spcPct val="140000"/>
              </a:lnSpc>
              <a:spcBef>
                <a:spcPts val="0"/>
              </a:spcBef>
              <a:defRPr sz="11200">
                <a:solidFill>
                  <a:srgbClr val="FFFFFF">
                    <a:alpha val="20000"/>
                  </a:srgbClr>
                </a:solidFill>
                <a:latin typeface="Wanted Sans ExtraBlack"/>
                <a:ea typeface="Wanted Sans ExtraBlack"/>
                <a:cs typeface="Wanted Sans ExtraBlack"/>
                <a:sym typeface="Wanted Sans ExtraBlack"/>
              </a:defRPr>
            </a:pPr>
            <a:r>
              <a:t>Discoverㅤ   </a:t>
            </a:r>
          </a:p>
          <a:p>
            <a:pPr algn="r" defTabSz="457200">
              <a:lnSpc>
                <a:spcPct val="140000"/>
              </a:lnSpc>
              <a:spcBef>
                <a:spcPts val="0"/>
              </a:spcBef>
              <a:defRPr sz="11200">
                <a:solidFill>
                  <a:srgbClr val="FFFFFF">
                    <a:alpha val="20000"/>
                  </a:srgbClr>
                </a:solidFill>
                <a:latin typeface="Wanted Sans ExtraBlack"/>
                <a:ea typeface="Wanted Sans ExtraBlack"/>
                <a:cs typeface="Wanted Sans ExtraBlack"/>
                <a:sym typeface="Wanted Sans ExtraBlack"/>
              </a:defRPr>
            </a:pPr>
            <a:r>
              <a:t>Understandㅤ   </a:t>
            </a:r>
          </a:p>
          <a:p>
            <a:pPr algn="r" defTabSz="457200">
              <a:lnSpc>
                <a:spcPct val="140000"/>
              </a:lnSpc>
              <a:spcBef>
                <a:spcPts val="0"/>
              </a:spcBef>
              <a:defRPr sz="11200">
                <a:solidFill>
                  <a:srgbClr val="FFFFFF">
                    <a:alpha val="20000"/>
                  </a:srgbClr>
                </a:solidFill>
                <a:latin typeface="Wanted Sans ExtraBlack"/>
                <a:ea typeface="Wanted Sans ExtraBlack"/>
                <a:cs typeface="Wanted Sans ExtraBlack"/>
                <a:sym typeface="Wanted Sans ExtraBlack"/>
              </a:defRPr>
            </a:pPr>
            <a:r>
              <a:t>Verifyㅤ   </a:t>
            </a:r>
          </a:p>
          <a:p>
            <a:pPr algn="r" defTabSz="457200">
              <a:lnSpc>
                <a:spcPct val="140000"/>
              </a:lnSpc>
              <a:spcBef>
                <a:spcPts val="0"/>
              </a:spcBef>
              <a:defRPr sz="11200">
                <a:solidFill>
                  <a:srgbClr val="FFFFFF">
                    <a:alpha val="20000"/>
                  </a:srgbClr>
                </a:solidFill>
                <a:latin typeface="Wanted Sans ExtraBlack"/>
                <a:ea typeface="Wanted Sans ExtraBlack"/>
                <a:cs typeface="Wanted Sans ExtraBlack"/>
                <a:sym typeface="Wanted Sans ExtraBlack"/>
              </a:defRPr>
            </a:pPr>
            <a:r>
              <a:t>Actㅤ   </a:t>
            </a:r>
          </a:p>
          <a:p>
            <a:pPr algn="r" defTabSz="457200">
              <a:lnSpc>
                <a:spcPct val="140000"/>
              </a:lnSpc>
              <a:spcBef>
                <a:spcPts val="0"/>
              </a:spcBef>
              <a:defRPr sz="9600">
                <a:solidFill>
                  <a:srgbClr val="FFFFFF">
                    <a:alpha val="20000"/>
                  </a:srgbClr>
                </a:solidFill>
                <a:latin typeface="Wanted Sans ExtraBlack"/>
                <a:ea typeface="Wanted Sans ExtraBlack"/>
                <a:cs typeface="Wanted Sans ExtraBlack"/>
                <a:sym typeface="Wanted Sans ExtraBlack"/>
              </a:defRPr>
            </a:pPr>
            <a:r>
              <a:rPr sz="11200"/>
              <a:t>User</a:t>
            </a:r>
            <a:r>
              <a:t>ㅤ</a:t>
            </a:r>
          </a:p>
        </p:txBody>
      </p:sp>
      <p:sp>
        <p:nvSpPr>
          <p:cNvPr id="202" name="타원형"/>
          <p:cNvSpPr/>
          <p:nvPr/>
        </p:nvSpPr>
        <p:spPr>
          <a:xfrm>
            <a:off x="14313" y="-131136"/>
            <a:ext cx="17549972" cy="13716001"/>
          </a:xfrm>
          <a:prstGeom prst="ellipse">
            <a:avLst/>
          </a:prstGeom>
          <a:gradFill>
            <a:gsLst>
              <a:gs pos="0">
                <a:srgbClr val="CFFF6E">
                  <a:alpha val="15985"/>
                </a:srgbClr>
              </a:gs>
              <a:gs pos="40676">
                <a:srgbClr val="222A12">
                  <a:alpha val="15985"/>
                </a:srgbClr>
              </a:gs>
              <a:gs pos="72011">
                <a:srgbClr val="000000">
                  <a:alpha val="15985"/>
                </a:srgbClr>
              </a:gs>
            </a:gsLst>
            <a:path>
              <a:fillToRect l="39601" t="54673" r="60398" b="4532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arget 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Target Problem</a:t>
            </a:r>
          </a:p>
        </p:txBody>
      </p:sp>
      <p:sp>
        <p:nvSpPr>
          <p:cNvPr id="207" name="타원형"/>
          <p:cNvSpPr/>
          <p:nvPr/>
        </p:nvSpPr>
        <p:spPr>
          <a:xfrm>
            <a:off x="4908578" y="2467191"/>
            <a:ext cx="14566844" cy="11384567"/>
          </a:xfrm>
          <a:prstGeom prst="ellipse">
            <a:avLst/>
          </a:prstGeom>
          <a:gradFill>
            <a:gsLst>
              <a:gs pos="0">
                <a:srgbClr val="CFFF6E">
                  <a:alpha val="14922"/>
                </a:srgbClr>
              </a:gs>
              <a:gs pos="59109">
                <a:srgbClr val="222A12">
                  <a:alpha val="14922"/>
                </a:srgbClr>
              </a:gs>
              <a:gs pos="72011">
                <a:srgbClr val="000000">
                  <a:alpha val="14922"/>
                </a:srgbClr>
              </a:gs>
            </a:gsLst>
            <a:path>
              <a:fillToRect l="49740" t="17030" r="50259" b="82969"/>
            </a:path>
          </a:gradFill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8" name="One opportunity.…"/>
          <p:cNvSpPr txBox="1"/>
          <p:nvPr/>
        </p:nvSpPr>
        <p:spPr>
          <a:xfrm>
            <a:off x="6994698" y="4713897"/>
            <a:ext cx="10394604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72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One opportunity.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72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Fragmented guidance.</a:t>
            </a:r>
          </a:p>
        </p:txBody>
      </p:sp>
      <p:sp>
        <p:nvSpPr>
          <p:cNvPr id="209" name="Web Page | PDF · HWP | Forms | Checklists | Reference Tables | Procedure Guides"/>
          <p:cNvSpPr txBox="1"/>
          <p:nvPr/>
        </p:nvSpPr>
        <p:spPr>
          <a:xfrm>
            <a:off x="3623071" y="7636264"/>
            <a:ext cx="1713785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AEAEAE"/>
                </a:solidFill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Web Page | PDF · HWP | Forms | Checklists | Reference Tables | Procedure Guides</a:t>
            </a:r>
          </a:p>
        </p:txBody>
      </p:sp>
      <p:sp>
        <p:nvSpPr>
          <p:cNvPr id="210" name="Many Documents"/>
          <p:cNvSpPr txBox="1"/>
          <p:nvPr/>
        </p:nvSpPr>
        <p:spPr>
          <a:xfrm>
            <a:off x="4519824" y="10227526"/>
            <a:ext cx="5376566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Many Documents</a:t>
            </a:r>
          </a:p>
        </p:txBody>
      </p:sp>
      <p:sp>
        <p:nvSpPr>
          <p:cNvPr id="211" name="직사각형"/>
          <p:cNvSpPr/>
          <p:nvPr/>
        </p:nvSpPr>
        <p:spPr>
          <a:xfrm>
            <a:off x="10903452" y="10612445"/>
            <a:ext cx="2577096" cy="68362"/>
          </a:xfrm>
          <a:prstGeom prst="rect">
            <a:avLst/>
          </a:prstGeom>
          <a:gradFill>
            <a:gsLst>
              <a:gs pos="0">
                <a:srgbClr val="CFFF6E"/>
              </a:gs>
              <a:gs pos="100000">
                <a:srgbClr val="000000"/>
              </a:gs>
            </a:gsLst>
            <a:lin ang="10385336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2" name="One Decision"/>
          <p:cNvSpPr txBox="1"/>
          <p:nvPr/>
        </p:nvSpPr>
        <p:spPr>
          <a:xfrm>
            <a:off x="14487610" y="10227526"/>
            <a:ext cx="4048423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One Decision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CleanShot 2026-08-23 at 01.43.33@2x.png" descr="CleanShot 2026-08-23 at 01.43.33@2x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70365" y="1266971"/>
            <a:ext cx="18043270" cy="65249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CleanShot 2026-08-23 at 01.44.04@2x.png" descr="CleanShot 2026-08-23 at 01.44.04@2x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008341" y="9772163"/>
            <a:ext cx="6972301" cy="280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붙여넣은 동영상.png" descr="붙여넣은 동영상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225336" y="10110709"/>
            <a:ext cx="1757377" cy="2162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붙여넣은 동영상.png" descr="붙여넣은 동영상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553896" y="10028339"/>
            <a:ext cx="2281496" cy="22814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붙여넣은 동영상.png" descr="붙여넣은 동영상.png"/>
          <p:cNvPicPr>
            <a:picLocks noChangeAspect="1"/>
          </p:cNvPicPr>
          <p:nvPr/>
        </p:nvPicPr>
        <p:blipFill>
          <a:blip r:embed="rId7">
            <a:extLst/>
          </a:blip>
          <a:srcRect l="12574" t="9563" r="12574" b="10119"/>
          <a:stretch>
            <a:fillRect/>
          </a:stretch>
        </p:blipFill>
        <p:spPr>
          <a:xfrm>
            <a:off x="19406575" y="10133386"/>
            <a:ext cx="1972695" cy="211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38" y="2775"/>
                </a:moveTo>
                <a:lnTo>
                  <a:pt x="19519" y="5550"/>
                </a:lnTo>
                <a:lnTo>
                  <a:pt x="19566" y="8615"/>
                </a:lnTo>
                <a:lnTo>
                  <a:pt x="19613" y="11680"/>
                </a:lnTo>
                <a:lnTo>
                  <a:pt x="20606" y="11728"/>
                </a:lnTo>
                <a:lnTo>
                  <a:pt x="21600" y="11777"/>
                </a:lnTo>
                <a:lnTo>
                  <a:pt x="21600" y="16488"/>
                </a:lnTo>
                <a:cubicBezTo>
                  <a:pt x="21600" y="19936"/>
                  <a:pt x="21544" y="21249"/>
                  <a:pt x="21393" y="21391"/>
                </a:cubicBezTo>
                <a:cubicBezTo>
                  <a:pt x="21243" y="21530"/>
                  <a:pt x="16022" y="21600"/>
                  <a:pt x="10802" y="21600"/>
                </a:cubicBezTo>
                <a:lnTo>
                  <a:pt x="10798" y="21600"/>
                </a:lnTo>
                <a:cubicBezTo>
                  <a:pt x="5578" y="21600"/>
                  <a:pt x="357" y="21530"/>
                  <a:pt x="207" y="21391"/>
                </a:cubicBezTo>
                <a:cubicBezTo>
                  <a:pt x="54" y="21248"/>
                  <a:pt x="0" y="19739"/>
                  <a:pt x="0" y="15601"/>
                </a:cubicBezTo>
                <a:lnTo>
                  <a:pt x="0" y="10004"/>
                </a:lnTo>
                <a:lnTo>
                  <a:pt x="1080" y="9956"/>
                </a:lnTo>
                <a:lnTo>
                  <a:pt x="2160" y="9909"/>
                </a:lnTo>
                <a:lnTo>
                  <a:pt x="2246" y="4997"/>
                </a:lnTo>
                <a:lnTo>
                  <a:pt x="2333" y="85"/>
                </a:lnTo>
                <a:lnTo>
                  <a:pt x="7945" y="43"/>
                </a:lnTo>
                <a:lnTo>
                  <a:pt x="13556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21" name="직사각형"/>
          <p:cNvSpPr/>
          <p:nvPr/>
        </p:nvSpPr>
        <p:spPr>
          <a:xfrm rot="5398683">
            <a:off x="5352235" y="8838576"/>
            <a:ext cx="1813719" cy="64748"/>
          </a:xfrm>
          <a:prstGeom prst="rect">
            <a:avLst/>
          </a:prstGeom>
          <a:gradFill>
            <a:gsLst>
              <a:gs pos="0">
                <a:srgbClr val="CFFF6E"/>
              </a:gs>
              <a:gs pos="100000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2" name="직사각형"/>
          <p:cNvSpPr/>
          <p:nvPr/>
        </p:nvSpPr>
        <p:spPr>
          <a:xfrm>
            <a:off x="9987796" y="11263712"/>
            <a:ext cx="3515519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100000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One page…"/>
          <p:cNvSpPr txBox="1"/>
          <p:nvPr/>
        </p:nvSpPr>
        <p:spPr>
          <a:xfrm>
            <a:off x="25503412" y="2539419"/>
            <a:ext cx="6203008" cy="386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70000"/>
              </a:lnSpc>
              <a:defRPr sz="72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One page</a:t>
            </a:r>
          </a:p>
          <a:p>
            <a:pPr>
              <a:lnSpc>
                <a:spcPct val="70000"/>
              </a:lnSpc>
              <a:defRPr sz="72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Five docuents</a:t>
            </a:r>
          </a:p>
          <a:p>
            <a:pPr>
              <a:lnSpc>
                <a:spcPct val="70000"/>
              </a:lnSpc>
              <a:defRPr sz="72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One decision</a:t>
            </a:r>
          </a:p>
        </p:txBody>
      </p:sp>
      <p:sp>
        <p:nvSpPr>
          <p:cNvPr id="227" name="Am I eligible?…"/>
          <p:cNvSpPr txBox="1"/>
          <p:nvPr/>
        </p:nvSpPr>
        <p:spPr>
          <a:xfrm>
            <a:off x="27282530" y="8112179"/>
            <a:ext cx="6945511" cy="409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Am I eligible?</a:t>
            </a:r>
          </a:p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When is the deadline?</a:t>
            </a:r>
          </a:p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What do I need?</a:t>
            </a:r>
          </a:p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Where is the evidence?</a:t>
            </a:r>
          </a:p>
        </p:txBody>
      </p:sp>
      <p:sp>
        <p:nvSpPr>
          <p:cNvPr id="228" name="선"/>
          <p:cNvSpPr/>
          <p:nvPr/>
        </p:nvSpPr>
        <p:spPr>
          <a:xfrm>
            <a:off x="33647174" y="4472359"/>
            <a:ext cx="1907406" cy="1"/>
          </a:xfrm>
          <a:prstGeom prst="line">
            <a:avLst/>
          </a:prstGeom>
          <a:ln w="1270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29" name="CleanShot 2026-08-23 at 01.43.33@2x.png" descr="CleanShot 2026-08-23 at 01.43.33@2x.png"/>
          <p:cNvPicPr>
            <a:picLocks noChangeAspect="1"/>
          </p:cNvPicPr>
          <p:nvPr/>
        </p:nvPicPr>
        <p:blipFill>
          <a:blip r:embed="rId3">
            <a:alphaModFix amt="13861"/>
            <a:extLst/>
          </a:blip>
          <a:stretch>
            <a:fillRect/>
          </a:stretch>
        </p:blipFill>
        <p:spPr>
          <a:xfrm>
            <a:off x="3170365" y="1266971"/>
            <a:ext cx="18043270" cy="65249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CleanShot 2026-08-23 at 01.44.04@2x.png" descr="CleanShot 2026-08-23 at 01.44.04@2x.png"/>
          <p:cNvPicPr>
            <a:picLocks noChangeAspect="1"/>
          </p:cNvPicPr>
          <p:nvPr/>
        </p:nvPicPr>
        <p:blipFill>
          <a:blip r:embed="rId4">
            <a:alphaModFix amt="13861"/>
            <a:extLst/>
          </a:blip>
          <a:stretch>
            <a:fillRect/>
          </a:stretch>
        </p:blipFill>
        <p:spPr>
          <a:xfrm>
            <a:off x="3008341" y="9772163"/>
            <a:ext cx="6972301" cy="280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붙여넣은 동영상.png" descr="붙여넣은 동영상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225336" y="10110709"/>
            <a:ext cx="1757377" cy="21621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붙여넣은 동영상.png" descr="붙여넣은 동영상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553896" y="10028339"/>
            <a:ext cx="2281496" cy="22814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붙여넣은 동영상.png" descr="붙여넣은 동영상.png"/>
          <p:cNvPicPr>
            <a:picLocks noChangeAspect="1"/>
          </p:cNvPicPr>
          <p:nvPr/>
        </p:nvPicPr>
        <p:blipFill>
          <a:blip r:embed="rId7">
            <a:extLst/>
          </a:blip>
          <a:srcRect l="12574" t="9563" r="12574" b="10119"/>
          <a:stretch>
            <a:fillRect/>
          </a:stretch>
        </p:blipFill>
        <p:spPr>
          <a:xfrm>
            <a:off x="19406575" y="10133386"/>
            <a:ext cx="1972695" cy="21167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38" y="2775"/>
                </a:moveTo>
                <a:lnTo>
                  <a:pt x="19519" y="5550"/>
                </a:lnTo>
                <a:lnTo>
                  <a:pt x="19566" y="8615"/>
                </a:lnTo>
                <a:lnTo>
                  <a:pt x="19613" y="11680"/>
                </a:lnTo>
                <a:lnTo>
                  <a:pt x="20606" y="11728"/>
                </a:lnTo>
                <a:lnTo>
                  <a:pt x="21600" y="11777"/>
                </a:lnTo>
                <a:lnTo>
                  <a:pt x="21600" y="16488"/>
                </a:lnTo>
                <a:cubicBezTo>
                  <a:pt x="21600" y="19936"/>
                  <a:pt x="21544" y="21249"/>
                  <a:pt x="21393" y="21391"/>
                </a:cubicBezTo>
                <a:cubicBezTo>
                  <a:pt x="21243" y="21530"/>
                  <a:pt x="16022" y="21600"/>
                  <a:pt x="10802" y="21600"/>
                </a:cubicBezTo>
                <a:lnTo>
                  <a:pt x="10798" y="21600"/>
                </a:lnTo>
                <a:cubicBezTo>
                  <a:pt x="5578" y="21600"/>
                  <a:pt x="357" y="21530"/>
                  <a:pt x="207" y="21391"/>
                </a:cubicBezTo>
                <a:cubicBezTo>
                  <a:pt x="54" y="21248"/>
                  <a:pt x="0" y="19739"/>
                  <a:pt x="0" y="15601"/>
                </a:cubicBezTo>
                <a:lnTo>
                  <a:pt x="0" y="10004"/>
                </a:lnTo>
                <a:lnTo>
                  <a:pt x="1080" y="9956"/>
                </a:lnTo>
                <a:lnTo>
                  <a:pt x="2160" y="9909"/>
                </a:lnTo>
                <a:lnTo>
                  <a:pt x="2246" y="4997"/>
                </a:lnTo>
                <a:lnTo>
                  <a:pt x="2333" y="85"/>
                </a:lnTo>
                <a:lnTo>
                  <a:pt x="7945" y="43"/>
                </a:lnTo>
                <a:lnTo>
                  <a:pt x="13556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34" name="직사각형"/>
          <p:cNvSpPr/>
          <p:nvPr/>
        </p:nvSpPr>
        <p:spPr>
          <a:xfrm rot="5398683">
            <a:off x="5352235" y="8673476"/>
            <a:ext cx="1813719" cy="64748"/>
          </a:xfrm>
          <a:prstGeom prst="rect">
            <a:avLst/>
          </a:prstGeom>
          <a:gradFill>
            <a:gsLst>
              <a:gs pos="0">
                <a:srgbClr val="CFFF6E"/>
              </a:gs>
              <a:gs pos="100000">
                <a:srgbClr val="000000"/>
              </a:gs>
            </a:gsLst>
            <a:lin ang="2157077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5" name="직사각형"/>
          <p:cNvSpPr/>
          <p:nvPr/>
        </p:nvSpPr>
        <p:spPr>
          <a:xfrm>
            <a:off x="10227636" y="4497079"/>
            <a:ext cx="2691006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87793">
                <a:srgbClr val="1B1B1B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1A1919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One page…"/>
          <p:cNvSpPr txBox="1"/>
          <p:nvPr/>
        </p:nvSpPr>
        <p:spPr>
          <a:xfrm>
            <a:off x="3862612" y="2539419"/>
            <a:ext cx="6203008" cy="386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70000"/>
              </a:lnSpc>
              <a:defRPr sz="72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One page</a:t>
            </a:r>
          </a:p>
          <a:p>
            <a:pPr>
              <a:lnSpc>
                <a:spcPct val="70000"/>
              </a:lnSpc>
              <a:defRPr sz="72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Five docuents</a:t>
            </a:r>
          </a:p>
          <a:p>
            <a:pPr>
              <a:lnSpc>
                <a:spcPct val="70000"/>
              </a:lnSpc>
              <a:defRPr sz="72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One decision</a:t>
            </a:r>
          </a:p>
        </p:txBody>
      </p:sp>
      <p:sp>
        <p:nvSpPr>
          <p:cNvPr id="237" name="직사각형"/>
          <p:cNvSpPr/>
          <p:nvPr/>
        </p:nvSpPr>
        <p:spPr>
          <a:xfrm>
            <a:off x="9987796" y="11263712"/>
            <a:ext cx="3515519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100000">
                <a:srgbClr val="000000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8" name="Am I eligible?…"/>
          <p:cNvSpPr txBox="1"/>
          <p:nvPr/>
        </p:nvSpPr>
        <p:spPr>
          <a:xfrm>
            <a:off x="13654417" y="2479673"/>
            <a:ext cx="6945512" cy="4099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Am I eligible?</a:t>
            </a:r>
          </a:p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When is the deadline?</a:t>
            </a:r>
          </a:p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What do I need?</a:t>
            </a:r>
          </a:p>
          <a:p>
            <a:pPr>
              <a:lnSpc>
                <a:spcPct val="70000"/>
              </a:lnSpc>
              <a:defRPr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Where is the evidence?</a:t>
            </a:r>
          </a:p>
        </p:txBody>
      </p:sp>
      <p:sp>
        <p:nvSpPr>
          <p:cNvPr id="239" name="원"/>
          <p:cNvSpPr/>
          <p:nvPr/>
        </p:nvSpPr>
        <p:spPr>
          <a:xfrm>
            <a:off x="12835466" y="4387163"/>
            <a:ext cx="284581" cy="284581"/>
          </a:xfrm>
          <a:prstGeom prst="ellipse">
            <a:avLst/>
          </a:prstGeom>
          <a:solidFill>
            <a:srgbClr val="B6DF6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1 - Upstage Technology 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1 - Upstage Technology Implementation </a:t>
            </a:r>
          </a:p>
        </p:txBody>
      </p:sp>
      <p:pic>
        <p:nvPicPr>
          <p:cNvPr id="244" name="DocumentParse-symbol.png" descr="DocumentParse-symbol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32190" y="4807980"/>
            <a:ext cx="1905001" cy="15719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DocumentClassify-symbol.png" descr="DocumentClassify-symbol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649526" y="4689813"/>
            <a:ext cx="1905001" cy="18083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InformationExtract-symbol.png" descr="InformationExtract-symbol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423847" y="4539423"/>
            <a:ext cx="1905001" cy="21091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SolarLLM-symbol.png" descr="SolarLLM-symbol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0746809" y="4873380"/>
            <a:ext cx="1905001" cy="1650107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Document…"/>
          <p:cNvSpPr txBox="1"/>
          <p:nvPr/>
        </p:nvSpPr>
        <p:spPr>
          <a:xfrm>
            <a:off x="1414690" y="6890576"/>
            <a:ext cx="25400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Document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Parse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Structure</a:t>
            </a:r>
          </a:p>
        </p:txBody>
      </p:sp>
      <p:sp>
        <p:nvSpPr>
          <p:cNvPr id="249" name="Document…"/>
          <p:cNvSpPr txBox="1"/>
          <p:nvPr/>
        </p:nvSpPr>
        <p:spPr>
          <a:xfrm>
            <a:off x="5332026" y="6890576"/>
            <a:ext cx="25400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Document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Classify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Role</a:t>
            </a:r>
          </a:p>
        </p:txBody>
      </p:sp>
      <p:sp>
        <p:nvSpPr>
          <p:cNvPr id="250" name="Information…"/>
          <p:cNvSpPr txBox="1"/>
          <p:nvPr/>
        </p:nvSpPr>
        <p:spPr>
          <a:xfrm>
            <a:off x="9106347" y="6890576"/>
            <a:ext cx="25400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Information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Extract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Facts</a:t>
            </a:r>
          </a:p>
        </p:txBody>
      </p:sp>
      <p:sp>
        <p:nvSpPr>
          <p:cNvPr id="251" name="Section Chunking…"/>
          <p:cNvSpPr txBox="1"/>
          <p:nvPr/>
        </p:nvSpPr>
        <p:spPr>
          <a:xfrm>
            <a:off x="12880668" y="6890576"/>
            <a:ext cx="25400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Section Chunking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Sections</a:t>
            </a:r>
          </a:p>
        </p:txBody>
      </p:sp>
      <p:sp>
        <p:nvSpPr>
          <p:cNvPr id="252" name="Upstage Search…"/>
          <p:cNvSpPr txBox="1"/>
          <p:nvPr/>
        </p:nvSpPr>
        <p:spPr>
          <a:xfrm>
            <a:off x="16654988" y="6890576"/>
            <a:ext cx="25400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Upstage Search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Context</a:t>
            </a:r>
          </a:p>
        </p:txBody>
      </p:sp>
      <p:sp>
        <p:nvSpPr>
          <p:cNvPr id="253" name="Upstage Solar 4…"/>
          <p:cNvSpPr txBox="1"/>
          <p:nvPr/>
        </p:nvSpPr>
        <p:spPr>
          <a:xfrm>
            <a:off x="20429309" y="6890576"/>
            <a:ext cx="2540001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Upstage Solar 4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Reasoning</a:t>
            </a:r>
          </a:p>
        </p:txBody>
      </p:sp>
      <p:pic>
        <p:nvPicPr>
          <p:cNvPr id="254" name="Symbol_Light.png" descr="Symbol_Light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6936735" y="4565167"/>
            <a:ext cx="1905001" cy="22665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Symbol_White.png" descr="Symbol_White.png"/>
          <p:cNvPicPr>
            <a:picLocks noChangeAspect="1"/>
          </p:cNvPicPr>
          <p:nvPr/>
        </p:nvPicPr>
        <p:blipFill>
          <a:blip r:embed="rId8">
            <a:alphaModFix amt="50000"/>
            <a:extLst/>
          </a:blip>
          <a:stretch>
            <a:fillRect/>
          </a:stretch>
        </p:blipFill>
        <p:spPr>
          <a:xfrm>
            <a:off x="13180291" y="4565167"/>
            <a:ext cx="1905001" cy="2266533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We don't ask one LLM to read everything."/>
          <p:cNvSpPr txBox="1"/>
          <p:nvPr/>
        </p:nvSpPr>
        <p:spPr>
          <a:xfrm>
            <a:off x="5281389" y="11130737"/>
            <a:ext cx="13821222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56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We don't ask one LLM to read everything.</a:t>
            </a:r>
          </a:p>
        </p:txBody>
      </p:sp>
      <p:sp>
        <p:nvSpPr>
          <p:cNvPr id="257" name="직사각형"/>
          <p:cNvSpPr/>
          <p:nvPr/>
        </p:nvSpPr>
        <p:spPr>
          <a:xfrm>
            <a:off x="7720162" y="5666059"/>
            <a:ext cx="1377157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60213">
                <a:srgbClr val="303B1A"/>
              </a:gs>
              <a:gs pos="88489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8" name="직사각형"/>
          <p:cNvSpPr/>
          <p:nvPr/>
        </p:nvSpPr>
        <p:spPr>
          <a:xfrm>
            <a:off x="3954780" y="5666059"/>
            <a:ext cx="1377157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60213">
                <a:srgbClr val="303B1A"/>
              </a:gs>
              <a:gs pos="88489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9" name="직사각형"/>
          <p:cNvSpPr/>
          <p:nvPr/>
        </p:nvSpPr>
        <p:spPr>
          <a:xfrm>
            <a:off x="11655375" y="5666059"/>
            <a:ext cx="1377157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60213">
                <a:srgbClr val="303B1A"/>
              </a:gs>
              <a:gs pos="88489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0" name="직사각형"/>
          <p:cNvSpPr/>
          <p:nvPr/>
        </p:nvSpPr>
        <p:spPr>
          <a:xfrm>
            <a:off x="15233051" y="5666059"/>
            <a:ext cx="1377157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60213">
                <a:srgbClr val="303B1A"/>
              </a:gs>
              <a:gs pos="88489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1" name="직사각형"/>
          <p:cNvSpPr/>
          <p:nvPr/>
        </p:nvSpPr>
        <p:spPr>
          <a:xfrm>
            <a:off x="18792775" y="5666059"/>
            <a:ext cx="1377157" cy="64749"/>
          </a:xfrm>
          <a:prstGeom prst="rect">
            <a:avLst/>
          </a:prstGeom>
          <a:gradFill>
            <a:gsLst>
              <a:gs pos="0">
                <a:srgbClr val="CFFF6E"/>
              </a:gs>
              <a:gs pos="60213">
                <a:srgbClr val="303B1A"/>
              </a:gs>
              <a:gs pos="88489">
                <a:srgbClr val="000000"/>
              </a:gs>
            </a:gsLst>
            <a:lin ang="9902505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1 - Upstage Technology 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1 - Upstage Technology Implementation</a:t>
            </a:r>
          </a:p>
        </p:txBody>
      </p:sp>
      <p:sp>
        <p:nvSpPr>
          <p:cNvPr id="266" name="Classify → Role-specific Extract"/>
          <p:cNvSpPr txBox="1"/>
          <p:nvPr/>
        </p:nvSpPr>
        <p:spPr>
          <a:xfrm>
            <a:off x="8736657" y="11807525"/>
            <a:ext cx="691068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Classify → Role-specific Extract</a:t>
            </a:r>
          </a:p>
        </p:txBody>
      </p:sp>
      <p:sp>
        <p:nvSpPr>
          <p:cNvPr id="267" name="Different Documents Need Different Intelligence."/>
          <p:cNvSpPr txBox="1"/>
          <p:nvPr/>
        </p:nvSpPr>
        <p:spPr>
          <a:xfrm>
            <a:off x="3784327" y="10647472"/>
            <a:ext cx="16815346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Different Documents Need Different Intelligence.</a:t>
            </a:r>
          </a:p>
        </p:txBody>
      </p:sp>
      <p:sp>
        <p:nvSpPr>
          <p:cNvPr id="268" name="Core Notice…"/>
          <p:cNvSpPr txBox="1"/>
          <p:nvPr/>
        </p:nvSpPr>
        <p:spPr>
          <a:xfrm>
            <a:off x="1233105" y="3998157"/>
            <a:ext cx="5968505" cy="503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just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Core Notice</a:t>
            </a:r>
          </a:p>
          <a:p>
            <a:pPr algn="just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Eligibility Rules</a:t>
            </a:r>
            <a:br/>
            <a:r>
              <a:t>Self-checklist</a:t>
            </a:r>
            <a:br/>
            <a:r>
              <a:t>Application Form</a:t>
            </a:r>
          </a:p>
          <a:p>
            <a:pPr algn="just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Procedure Guide</a:t>
            </a:r>
          </a:p>
        </p:txBody>
      </p:sp>
      <p:sp>
        <p:nvSpPr>
          <p:cNvPr id="269" name="Benefits · Dates…"/>
          <p:cNvSpPr txBox="1"/>
          <p:nvPr/>
        </p:nvSpPr>
        <p:spPr>
          <a:xfrm>
            <a:off x="13657896" y="3998157"/>
            <a:ext cx="9317187" cy="503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r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Benefits · Dates </a:t>
            </a:r>
          </a:p>
          <a:p>
            <a:pPr algn="r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Conditions · Exceptions</a:t>
            </a:r>
          </a:p>
          <a:p>
            <a:pPr algn="r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Checks · Failure Conditions</a:t>
            </a:r>
          </a:p>
          <a:p>
            <a:pPr algn="r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Fields</a:t>
            </a:r>
          </a:p>
          <a:p>
            <a:pPr algn="r" defTabSz="457200">
              <a:lnSpc>
                <a:spcPct val="12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Steps · Rules</a:t>
            </a:r>
          </a:p>
        </p:txBody>
      </p:sp>
      <p:sp>
        <p:nvSpPr>
          <p:cNvPr id="270" name="선"/>
          <p:cNvSpPr/>
          <p:nvPr/>
        </p:nvSpPr>
        <p:spPr>
          <a:xfrm>
            <a:off x="5946754" y="4472359"/>
            <a:ext cx="11285883" cy="1"/>
          </a:xfrm>
          <a:prstGeom prst="line">
            <a:avLst/>
          </a:prstGeom>
          <a:ln w="63500">
            <a:solidFill>
              <a:srgbClr val="FFFFFF">
                <a:alpha val="30000"/>
              </a:srgb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1" name="선"/>
          <p:cNvSpPr/>
          <p:nvPr/>
        </p:nvSpPr>
        <p:spPr>
          <a:xfrm>
            <a:off x="6908007" y="5433611"/>
            <a:ext cx="7703766" cy="1"/>
          </a:xfrm>
          <a:prstGeom prst="line">
            <a:avLst/>
          </a:prstGeom>
          <a:ln w="63500">
            <a:solidFill>
              <a:srgbClr val="FFFFFF">
                <a:alpha val="30000"/>
              </a:srgb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2" name="선"/>
          <p:cNvSpPr/>
          <p:nvPr/>
        </p:nvSpPr>
        <p:spPr>
          <a:xfrm>
            <a:off x="6346897" y="6516567"/>
            <a:ext cx="6910687" cy="1"/>
          </a:xfrm>
          <a:prstGeom prst="line">
            <a:avLst/>
          </a:prstGeom>
          <a:ln w="63500">
            <a:solidFill>
              <a:srgbClr val="FFFFFF">
                <a:alpha val="30000"/>
              </a:srgb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3" name="선"/>
          <p:cNvSpPr/>
          <p:nvPr/>
        </p:nvSpPr>
        <p:spPr>
          <a:xfrm>
            <a:off x="7589300" y="7536023"/>
            <a:ext cx="13038256" cy="1"/>
          </a:xfrm>
          <a:prstGeom prst="line">
            <a:avLst/>
          </a:prstGeom>
          <a:ln w="63500">
            <a:solidFill>
              <a:srgbClr val="FFFFFF">
                <a:alpha val="30000"/>
              </a:srgb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4" name="선"/>
          <p:cNvSpPr/>
          <p:nvPr/>
        </p:nvSpPr>
        <p:spPr>
          <a:xfrm>
            <a:off x="7569970" y="8611100"/>
            <a:ext cx="10538853" cy="1"/>
          </a:xfrm>
          <a:prstGeom prst="line">
            <a:avLst/>
          </a:prstGeom>
          <a:ln w="63500">
            <a:solidFill>
              <a:srgbClr val="FFFFFF">
                <a:alpha val="30000"/>
              </a:srgb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1 - Upstage Technology 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1 - Upstage Technology Implementation </a:t>
            </a:r>
          </a:p>
        </p:txBody>
      </p:sp>
      <p:sp>
        <p:nvSpPr>
          <p:cNvPr id="279" name="Search finds where to look. Solar finds what matters."/>
          <p:cNvSpPr txBox="1"/>
          <p:nvPr/>
        </p:nvSpPr>
        <p:spPr>
          <a:xfrm>
            <a:off x="7498506" y="10674902"/>
            <a:ext cx="9386988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Search finds where to look.</a:t>
            </a:r>
            <a:br/>
            <a:r>
              <a:t>Solar finds what matters.</a:t>
            </a:r>
          </a:p>
        </p:txBody>
      </p:sp>
      <p:sp>
        <p:nvSpPr>
          <p:cNvPr id="280" name="Upstage Search"/>
          <p:cNvSpPr txBox="1"/>
          <p:nvPr/>
        </p:nvSpPr>
        <p:spPr>
          <a:xfrm>
            <a:off x="10922000" y="7588804"/>
            <a:ext cx="2540000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Upstage Search</a:t>
            </a:r>
          </a:p>
        </p:txBody>
      </p:sp>
      <p:pic>
        <p:nvPicPr>
          <p:cNvPr id="281" name="Symbol_Light.png" descr="Symbol_Ligh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45396" y="4087646"/>
            <a:ext cx="2893207" cy="3442282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Document…"/>
          <p:cNvSpPr txBox="1"/>
          <p:nvPr/>
        </p:nvSpPr>
        <p:spPr>
          <a:xfrm>
            <a:off x="2874423" y="4317067"/>
            <a:ext cx="3785921" cy="227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Document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↓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Section Chunk</a:t>
            </a:r>
          </a:p>
        </p:txBody>
      </p:sp>
      <p:sp>
        <p:nvSpPr>
          <p:cNvPr id="283" name="Relevant Section…"/>
          <p:cNvSpPr txBox="1"/>
          <p:nvPr/>
        </p:nvSpPr>
        <p:spPr>
          <a:xfrm>
            <a:off x="17130214" y="4273549"/>
            <a:ext cx="5211166" cy="5168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Relevant Section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↓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Candidate Elements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↓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Solar Pro 4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↓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Evidence</a:t>
            </a:r>
          </a:p>
        </p:txBody>
      </p:sp>
      <p:sp>
        <p:nvSpPr>
          <p:cNvPr id="284" name="선"/>
          <p:cNvSpPr/>
          <p:nvPr/>
        </p:nvSpPr>
        <p:spPr>
          <a:xfrm>
            <a:off x="8099404" y="6649461"/>
            <a:ext cx="1206933" cy="1"/>
          </a:xfrm>
          <a:prstGeom prst="line">
            <a:avLst/>
          </a:prstGeom>
          <a:ln w="1270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5" name="선"/>
          <p:cNvSpPr/>
          <p:nvPr/>
        </p:nvSpPr>
        <p:spPr>
          <a:xfrm>
            <a:off x="14780942" y="6649461"/>
            <a:ext cx="1206933" cy="1"/>
          </a:xfrm>
          <a:prstGeom prst="line">
            <a:avLst/>
          </a:prstGeom>
          <a:ln w="1270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6" name="Heading…"/>
          <p:cNvSpPr txBox="1"/>
          <p:nvPr/>
        </p:nvSpPr>
        <p:spPr>
          <a:xfrm>
            <a:off x="2741301" y="7276761"/>
            <a:ext cx="4052165" cy="212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spcBef>
                <a:spcPts val="0"/>
              </a:spcBef>
              <a:defRPr sz="3600">
                <a:solidFill>
                  <a:srgbClr val="FFFFFF">
                    <a:alpha val="50000"/>
                  </a:srgbClr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Heading</a:t>
            </a:r>
          </a:p>
          <a:p>
            <a:pPr algn="ctr" defTabSz="457200">
              <a:spcBef>
                <a:spcPts val="0"/>
              </a:spcBef>
              <a:defRPr sz="3600">
                <a:solidFill>
                  <a:srgbClr val="FFFFFF">
                    <a:alpha val="50000"/>
                  </a:srgbClr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Numbered Structure</a:t>
            </a:r>
          </a:p>
          <a:p>
            <a:pPr algn="ctr" defTabSz="457200">
              <a:spcBef>
                <a:spcPts val="0"/>
              </a:spcBef>
              <a:defRPr sz="3600">
                <a:solidFill>
                  <a:srgbClr val="FFFFFF">
                    <a:alpha val="50000"/>
                  </a:srgbClr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Tables / Lists</a:t>
            </a:r>
          </a:p>
          <a:p>
            <a:pPr algn="ctr" defTabSz="457200">
              <a:spcBef>
                <a:spcPts val="0"/>
              </a:spcBef>
              <a:defRPr sz="3600">
                <a:solidFill>
                  <a:srgbClr val="FFFFFF">
                    <a:alpha val="50000"/>
                  </a:srgbClr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Length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1 - Upstage Technology 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1 - Upstage Technology Implementation</a:t>
            </a:r>
          </a:p>
        </p:txBody>
      </p:sp>
      <p:sp>
        <p:nvSpPr>
          <p:cNvPr id="291" name="Extracted Fact…"/>
          <p:cNvSpPr txBox="1"/>
          <p:nvPr/>
        </p:nvSpPr>
        <p:spPr>
          <a:xfrm>
            <a:off x="9370253" y="6915046"/>
            <a:ext cx="5643494" cy="231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Extracted Fact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↓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Source ID</a:t>
            </a:r>
          </a:p>
        </p:txBody>
      </p:sp>
      <p:sp>
        <p:nvSpPr>
          <p:cNvPr id="292" name="선"/>
          <p:cNvSpPr/>
          <p:nvPr/>
        </p:nvSpPr>
        <p:spPr>
          <a:xfrm>
            <a:off x="15496015" y="8015344"/>
            <a:ext cx="1206933" cy="1"/>
          </a:xfrm>
          <a:prstGeom prst="line">
            <a:avLst/>
          </a:prstGeom>
          <a:ln w="1270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3" name="선"/>
          <p:cNvSpPr/>
          <p:nvPr/>
        </p:nvSpPr>
        <p:spPr>
          <a:xfrm flipH="1">
            <a:off x="7681052" y="8070746"/>
            <a:ext cx="1206933" cy="1"/>
          </a:xfrm>
          <a:prstGeom prst="line">
            <a:avLst/>
          </a:prstGeom>
          <a:ln w="1270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4" name="선"/>
          <p:cNvSpPr/>
          <p:nvPr/>
        </p:nvSpPr>
        <p:spPr>
          <a:xfrm flipV="1">
            <a:off x="12191999" y="5234538"/>
            <a:ext cx="1" cy="1206933"/>
          </a:xfrm>
          <a:prstGeom prst="line">
            <a:avLst/>
          </a:prstGeom>
          <a:ln w="1270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5" name="AI Decision"/>
          <p:cNvSpPr txBox="1"/>
          <p:nvPr/>
        </p:nvSpPr>
        <p:spPr>
          <a:xfrm>
            <a:off x="9372600" y="3997374"/>
            <a:ext cx="5638800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AI Decision</a:t>
            </a:r>
          </a:p>
        </p:txBody>
      </p:sp>
      <p:sp>
        <p:nvSpPr>
          <p:cNvPr id="296" name="Source Highlight"/>
          <p:cNvSpPr txBox="1"/>
          <p:nvPr/>
        </p:nvSpPr>
        <p:spPr>
          <a:xfrm>
            <a:off x="1559982" y="7651646"/>
            <a:ext cx="563880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Source Highlight</a:t>
            </a:r>
          </a:p>
        </p:txBody>
      </p:sp>
      <p:sp>
        <p:nvSpPr>
          <p:cNvPr id="297" name="Accessible View"/>
          <p:cNvSpPr txBox="1"/>
          <p:nvPr/>
        </p:nvSpPr>
        <p:spPr>
          <a:xfrm>
            <a:off x="17185217" y="7596244"/>
            <a:ext cx="563880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Accessible View</a:t>
            </a:r>
          </a:p>
        </p:txBody>
      </p:sp>
      <p:sp>
        <p:nvSpPr>
          <p:cNvPr id="298" name="Every Answer Has a Place."/>
          <p:cNvSpPr txBox="1"/>
          <p:nvPr/>
        </p:nvSpPr>
        <p:spPr>
          <a:xfrm>
            <a:off x="9322556" y="11807525"/>
            <a:ext cx="5738888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600"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Every Answer Has a Place.</a:t>
            </a:r>
          </a:p>
        </p:txBody>
      </p:sp>
      <p:sp>
        <p:nvSpPr>
          <p:cNvPr id="299" name="Document → Page → Element → Polygon"/>
          <p:cNvSpPr txBox="1"/>
          <p:nvPr/>
        </p:nvSpPr>
        <p:spPr>
          <a:xfrm>
            <a:off x="5194225" y="10647472"/>
            <a:ext cx="13995550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Document → Page → Element → Polygon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2 - SERVICE COMPLETENE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2 - SERVICE COMPLETENESS </a:t>
            </a:r>
          </a:p>
        </p:txBody>
      </p:sp>
      <p:sp>
        <p:nvSpPr>
          <p:cNvPr id="304" name="실제 유저 플로우 데모 스크린샷"/>
          <p:cNvSpPr txBox="1"/>
          <p:nvPr/>
        </p:nvSpPr>
        <p:spPr>
          <a:xfrm>
            <a:off x="6564957" y="6261100"/>
            <a:ext cx="11254086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7200"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실제 유저 플로우 데모 스크린샷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3 - IDEA CREATIV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3 - IDEA CREATIVITY</a:t>
            </a:r>
          </a:p>
        </p:txBody>
      </p:sp>
      <p:sp>
        <p:nvSpPr>
          <p:cNvPr id="309" name="Accessibility 데모에 대한 설명 장표"/>
          <p:cNvSpPr txBox="1"/>
          <p:nvPr/>
        </p:nvSpPr>
        <p:spPr>
          <a:xfrm>
            <a:off x="5252293" y="6261100"/>
            <a:ext cx="13879414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7200"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Accessibility 데모에 대한 설명 장표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3 - IDEA CREATIV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3 - IDEA CREATIVITY </a:t>
            </a:r>
          </a:p>
        </p:txBody>
      </p:sp>
      <p:sp>
        <p:nvSpPr>
          <p:cNvPr id="314" name="Accessibility 데모 영상"/>
          <p:cNvSpPr txBox="1"/>
          <p:nvPr/>
        </p:nvSpPr>
        <p:spPr>
          <a:xfrm>
            <a:off x="7444531" y="6261100"/>
            <a:ext cx="9494938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7200"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Accessibility 데모 영상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3 - IDEA CREATIV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3 - IDEA CREATIVITY </a:t>
            </a:r>
          </a:p>
        </p:txBody>
      </p:sp>
      <p:sp>
        <p:nvSpPr>
          <p:cNvPr id="319" name="The capabilities exist.…"/>
          <p:cNvSpPr txBox="1"/>
          <p:nvPr/>
        </p:nvSpPr>
        <p:spPr>
          <a:xfrm>
            <a:off x="1212681" y="2519069"/>
            <a:ext cx="10958811" cy="157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The capabilities exist.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The difference is how they connect.</a:t>
            </a:r>
          </a:p>
        </p:txBody>
      </p:sp>
      <p:sp>
        <p:nvSpPr>
          <p:cNvPr id="320" name="Product experience comparison, not a model benchmark."/>
          <p:cNvSpPr txBox="1"/>
          <p:nvPr/>
        </p:nvSpPr>
        <p:spPr>
          <a:xfrm>
            <a:off x="4051250" y="11712275"/>
            <a:ext cx="16281500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>
                <a:latin typeface="Wanted Sans Medium"/>
                <a:ea typeface="Wanted Sans Medium"/>
                <a:cs typeface="Wanted Sans Medium"/>
                <a:sym typeface="Wanted Sans Medium"/>
              </a:defRPr>
            </a:lvl1pPr>
          </a:lstStyle>
          <a:p>
            <a:pPr/>
            <a:r>
              <a:t>Product experience comparison, not a model benchmark.</a:t>
            </a:r>
          </a:p>
        </p:txBody>
      </p:sp>
      <p:graphicFrame>
        <p:nvGraphicFramePr>
          <p:cNvPr id="321" name="표 1"/>
          <p:cNvGraphicFramePr/>
          <p:nvPr/>
        </p:nvGraphicFramePr>
        <p:xfrm>
          <a:off x="1290902" y="4725691"/>
          <a:ext cx="21713296" cy="411772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481777"/>
                <a:gridCol w="3858181"/>
                <a:gridCol w="3417821"/>
                <a:gridCol w="2914872"/>
                <a:gridCol w="3052717"/>
                <a:gridCol w="2975225"/>
              </a:tblGrid>
              <a:tr h="13541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Bold"/>
                          <a:ea typeface="Wanted Sans Bold"/>
                          <a:cs typeface="Wanted Sans Bold"/>
                          <a:sym typeface="Wanted Sans Bold"/>
                        </a:rPr>
                        <a:t>Experience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  <a:lnT w="3175">
                      <a:solidFill>
                        <a:srgbClr val="FFFFFF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Bold"/>
                          <a:ea typeface="Wanted Sans Bold"/>
                          <a:cs typeface="Wanted Sans Bold"/>
                          <a:sym typeface="Wanted Sans Bold"/>
                        </a:rPr>
                        <a:t>ChatGPT</a:t>
                      </a:r>
                    </a:p>
                  </a:txBody>
                  <a:tcPr marL="12700" marR="12700" marT="12700" marB="12700" anchor="ctr" anchorCtr="0" horzOverflow="overflow">
                    <a:lnT w="3175">
                      <a:solidFill>
                        <a:srgbClr val="FFFFFF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Bold"/>
                          <a:ea typeface="Wanted Sans Bold"/>
                          <a:cs typeface="Wanted Sans Bold"/>
                          <a:sym typeface="Wanted Sans Bold"/>
                        </a:rPr>
                        <a:t>Gemini Notebook
(NotebookLM)</a:t>
                      </a:r>
                    </a:p>
                  </a:txBody>
                  <a:tcPr marL="12700" marR="12700" marT="12700" marB="12700" anchor="ctr" anchorCtr="0" horzOverflow="overflow">
                    <a:lnT w="3175">
                      <a:solidFill>
                        <a:srgbClr val="FFFFFF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Bold"/>
                          <a:ea typeface="Wanted Sans Bold"/>
                          <a:cs typeface="Wanted Sans Bold"/>
                          <a:sym typeface="Wanted Sans Bold"/>
                        </a:rPr>
                        <a:t>Adobe Acrobat AI</a:t>
                      </a:r>
                    </a:p>
                  </a:txBody>
                  <a:tcPr marL="12700" marR="12700" marT="12700" marB="12700" anchor="ctr" anchorCtr="0" horzOverflow="overflow">
                    <a:lnT w="3175">
                      <a:solidFill>
                        <a:srgbClr val="FFFFFF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Bold"/>
                          <a:ea typeface="Wanted Sans Bold"/>
                          <a:cs typeface="Wanted Sans Bold"/>
                          <a:sym typeface="Wanted Sans Bold"/>
                        </a:rPr>
                        <a:t>Microsoft
Copilot</a:t>
                      </a:r>
                    </a:p>
                  </a:txBody>
                  <a:tcPr marL="12700" marR="12700" marT="12700" marB="12700" anchor="ctr" anchorCtr="0" horzOverflow="overflow">
                    <a:lnT w="3175">
                      <a:solidFill>
                        <a:srgbClr val="FFFFFF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Bold"/>
                          <a:ea typeface="Wanted Sans Bold"/>
                          <a:cs typeface="Wanted Sans Bold"/>
                          <a:sym typeface="Wanted Sans Bold"/>
                        </a:rPr>
                        <a:t>UP²STAGE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  <a:lnT w="3175">
                      <a:solidFill>
                        <a:srgbClr val="FFFFFF"/>
                      </a:solidFill>
                      <a:miter lim="400000"/>
                    </a:lnT>
                  </a:tcPr>
                </a:tc>
              </a:tr>
              <a:tr h="8334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Current Page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</a:tcPr>
                </a:tc>
              </a:tr>
              <a:tr h="8334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Attachment Set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</a:tcPr>
                </a:tc>
              </a:tr>
              <a:tr h="8334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Role-aware Analysis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</a:tcPr>
                </a:tc>
              </a:tr>
              <a:tr h="8334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Source Navigation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</a:tcPr>
                </a:tc>
              </a:tr>
              <a:tr h="8334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Semantic Navigation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</a:tcPr>
                </a:tc>
              </a:tr>
              <a:tr h="833437"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Shared Evidence Layer</a:t>
                      </a:r>
                    </a:p>
                  </a:txBody>
                  <a:tcPr marL="12700" marR="12700" marT="12700" marB="12700" anchor="ctr" anchorCtr="0" horzOverflow="overflow">
                    <a:lnL w="3175">
                      <a:solidFill>
                        <a:srgbClr val="FFFFFF"/>
                      </a:solidFill>
                      <a:miter lim="400000"/>
                    </a:lnL>
                    <a:lnB w="3175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>
                    <a:lnB w="3175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>
                    <a:lnB w="3175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△</a:t>
                      </a:r>
                    </a:p>
                  </a:txBody>
                  <a:tcPr marL="12700" marR="12700" marT="12700" marB="12700" anchor="ctr" anchorCtr="0" horzOverflow="overflow">
                    <a:lnB w="3175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>
                    <a:lnB w="3175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800">
                          <a:solidFill>
                            <a:srgbClr val="FFFFFF"/>
                          </a:solidFill>
                          <a:latin typeface="Wanted Sans Regular"/>
                          <a:ea typeface="Wanted Sans Regular"/>
                          <a:cs typeface="Wanted Sans Regular"/>
                          <a:sym typeface="Wanted Sans Regular"/>
                        </a:rPr>
                        <a:t>●</a:t>
                      </a:r>
                    </a:p>
                  </a:txBody>
                  <a:tcPr marL="12700" marR="12700" marT="12700" marB="12700" anchor="ctr" anchorCtr="0" horzOverflow="overflow">
                    <a:lnR w="3175">
                      <a:solidFill>
                        <a:srgbClr val="FFFFFF"/>
                      </a:solidFill>
                      <a:miter lim="400000"/>
                    </a:lnR>
                    <a:lnB w="3175">
                      <a:solidFill>
                        <a:srgbClr val="FFFFFF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3 - IDEA CREATIV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3 - IDEA CREATIVITY </a:t>
            </a:r>
          </a:p>
        </p:txBody>
      </p:sp>
      <p:sp>
        <p:nvSpPr>
          <p:cNvPr id="326" name="STRUCTURED…"/>
          <p:cNvSpPr txBox="1"/>
          <p:nvPr/>
        </p:nvSpPr>
        <p:spPr>
          <a:xfrm>
            <a:off x="7517779" y="2846874"/>
            <a:ext cx="9348442" cy="7068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82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STRUCTURED</a:t>
            </a:r>
          </a:p>
          <a:p>
            <a:pPr algn="ctr" defTabSz="457200">
              <a:lnSpc>
                <a:spcPct val="70000"/>
              </a:lnSpc>
              <a:spcBef>
                <a:spcPts val="0"/>
              </a:spcBef>
              <a:defRPr sz="56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Understand the structure.</a:t>
            </a:r>
            <a:br/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82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TRUSTED</a:t>
            </a:r>
          </a:p>
          <a:p>
            <a:pPr algn="ctr" defTabSz="457200">
              <a:lnSpc>
                <a:spcPct val="70000"/>
              </a:lnSpc>
              <a:spcBef>
                <a:spcPts val="0"/>
              </a:spcBef>
              <a:defRPr sz="56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Return to the evidence.</a:t>
            </a:r>
            <a:br/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82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ACCESSIBLE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lack"/>
                <a:ea typeface="Wanted Sans Black"/>
                <a:cs typeface="Wanted Sans Black"/>
                <a:sym typeface="Wanted Sans Black"/>
              </a:defRPr>
            </a:pPr>
            <a:r>
              <a:t>Navigate it your way.</a:t>
            </a:r>
          </a:p>
        </p:txBody>
      </p:sp>
      <p:sp>
        <p:nvSpPr>
          <p:cNvPr id="327" name="It should not hide the document.…"/>
          <p:cNvSpPr txBox="1"/>
          <p:nvPr/>
        </p:nvSpPr>
        <p:spPr>
          <a:xfrm>
            <a:off x="6651352" y="10770244"/>
            <a:ext cx="11081296" cy="180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It should not hide the document.</a:t>
            </a:r>
          </a:p>
          <a:p>
            <a:pPr algn="ctr"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pPr>
            <a:r>
              <a:t>It should unfold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4 - PRODUCT PLAN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4 - PRODUCT PLANNING </a:t>
            </a:r>
          </a:p>
        </p:txBody>
      </p:sp>
      <p:sp>
        <p:nvSpPr>
          <p:cNvPr id="332" name="Start Narrow. Build for Expansion."/>
          <p:cNvSpPr txBox="1"/>
          <p:nvPr/>
        </p:nvSpPr>
        <p:spPr>
          <a:xfrm>
            <a:off x="6380485" y="2996188"/>
            <a:ext cx="11623031" cy="95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56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Start Narrow. Build for Expansion.</a:t>
            </a:r>
          </a:p>
        </p:txBody>
      </p:sp>
      <p:graphicFrame>
        <p:nvGraphicFramePr>
          <p:cNvPr id="333" name="표 1"/>
          <p:cNvGraphicFramePr/>
          <p:nvPr/>
        </p:nvGraphicFramePr>
        <p:xfrm>
          <a:off x="1351916" y="5259829"/>
          <a:ext cx="21692868" cy="411772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733372"/>
                <a:gridCol w="5712094"/>
                <a:gridCol w="5862059"/>
                <a:gridCol w="6372641"/>
              </a:tblGrid>
              <a:tr h="586432">
                <a:tc>
                  <a:txBody>
                    <a:bodyPr/>
                    <a:lstStyle/>
                    <a:p>
                      <a:pPr defTabSz="914400">
                        <a:defRPr sz="3500"/>
                      </a:pP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b="1"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TODAY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b="1"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NEXT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b="1"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FUTURE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Product Scope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One Scholarship Workflow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More Student Workflows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Public Document Workflows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User Experience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Analyze from the Current Page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Resume with Existing Context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Guidance Available at the Source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Product Intelligence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Build Context on Demand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Reuse Document Context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Continuously Maintained Context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Processing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Analyze + Cache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Skip Unnecessary Reprocessing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Refresh Only Changed Documents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Accessibility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Accessible Document View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Reusable Semantic Structure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Accessible by Default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Distribution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Chrome Extension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Institutional Pilots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500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Embedded · API · B2B/B2G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4 - PRODUCT PLAN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144" sz="7200">
                <a:latin typeface="Wanted Sans Bold"/>
                <a:ea typeface="Wanted Sans Bold"/>
                <a:cs typeface="Wanted Sans Bold"/>
                <a:sym typeface="Wanted Sans Bold"/>
              </a:defRPr>
            </a:lvl1pPr>
          </a:lstStyle>
          <a:p>
            <a:pPr/>
            <a:r>
              <a:t>4 - PRODUCT PLANNING </a:t>
            </a:r>
          </a:p>
        </p:txBody>
      </p:sp>
      <p:sp>
        <p:nvSpPr>
          <p:cNvPr id="338" name="b2c"/>
          <p:cNvSpPr txBox="1"/>
          <p:nvPr/>
        </p:nvSpPr>
        <p:spPr>
          <a:xfrm>
            <a:off x="2113976" y="4832296"/>
            <a:ext cx="3337561" cy="114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8200">
                <a:solidFill>
                  <a:srgbClr val="F8F8F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B2C</a:t>
            </a:r>
          </a:p>
        </p:txBody>
      </p:sp>
      <p:sp>
        <p:nvSpPr>
          <p:cNvPr id="339" name="b2c-audience"/>
          <p:cNvSpPr txBox="1"/>
          <p:nvPr/>
        </p:nvSpPr>
        <p:spPr>
          <a:xfrm>
            <a:off x="954109" y="6200484"/>
            <a:ext cx="5657295" cy="179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Students</a:t>
            </a:r>
          </a:p>
          <a:p>
            <a:pPr algn="ctr" defTabSz="914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 Individuals</a:t>
            </a:r>
          </a:p>
        </p:txBody>
      </p:sp>
      <p:sp>
        <p:nvSpPr>
          <p:cNvPr id="340" name="b2c-down"/>
          <p:cNvSpPr/>
          <p:nvPr/>
        </p:nvSpPr>
        <p:spPr>
          <a:xfrm rot="16200613">
            <a:off x="6524152" y="5916419"/>
            <a:ext cx="1253183" cy="1432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150"/>
                </a:moveTo>
                <a:lnTo>
                  <a:pt x="5400" y="1215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150"/>
                </a:lnTo>
                <a:lnTo>
                  <a:pt x="21600" y="1215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8F8FA"/>
          </a:solidFill>
          <a:ln w="3175">
            <a:solidFill>
              <a:srgbClr val="F8F8FA"/>
            </a:solidFill>
          </a:ln>
        </p:spPr>
        <p:txBody>
          <a:bodyPr lIns="0" tIns="0" rIns="0" bIns="0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700">
                <a:solidFill>
                  <a:srgbClr val="000000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</p:txBody>
      </p:sp>
      <p:sp>
        <p:nvSpPr>
          <p:cNvPr id="341" name="validation"/>
          <p:cNvSpPr txBox="1"/>
          <p:nvPr/>
        </p:nvSpPr>
        <p:spPr>
          <a:xfrm>
            <a:off x="8455443" y="4685029"/>
            <a:ext cx="5052061" cy="434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Validate Demand</a:t>
            </a:r>
          </a:p>
          <a:p>
            <a:pPr algn="ctr" defTabSz="914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Repeat Usage</a:t>
            </a:r>
          </a:p>
          <a:p>
            <a:pPr algn="ctr" defTabSz="914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High-value Workflows</a:t>
            </a:r>
          </a:p>
        </p:txBody>
      </p:sp>
      <p:sp>
        <p:nvSpPr>
          <p:cNvPr id="342" name="right-separator"/>
          <p:cNvSpPr/>
          <p:nvPr/>
        </p:nvSpPr>
        <p:spPr>
          <a:xfrm rot="5397878">
            <a:off x="3764632" y="9396600"/>
            <a:ext cx="37928" cy="3163913"/>
          </a:xfrm>
          <a:prstGeom prst="rect">
            <a:avLst/>
          </a:prstGeom>
          <a:solidFill>
            <a:srgbClr val="2B2B31"/>
          </a:solidFill>
          <a:ln w="3175">
            <a:solidFill>
              <a:srgbClr val="2B2B31"/>
            </a:solidFill>
          </a:ln>
        </p:spPr>
        <p:txBody>
          <a:bodyPr lIns="0" tIns="0" rIns="0" bIns="0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today-label"/>
          <p:cNvSpPr txBox="1"/>
          <p:nvPr/>
        </p:nvSpPr>
        <p:spPr>
          <a:xfrm>
            <a:off x="2223762" y="10232754"/>
            <a:ext cx="16230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F8F8F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344" name="today-copy"/>
          <p:cNvSpPr txBox="1"/>
          <p:nvPr/>
        </p:nvSpPr>
        <p:spPr>
          <a:xfrm>
            <a:off x="2198362" y="11699624"/>
            <a:ext cx="2175511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User brings UP²STAGE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to the site.</a:t>
            </a:r>
          </a:p>
        </p:txBody>
      </p:sp>
      <p:sp>
        <p:nvSpPr>
          <p:cNvPr id="345" name="b2c-down"/>
          <p:cNvSpPr/>
          <p:nvPr/>
        </p:nvSpPr>
        <p:spPr>
          <a:xfrm rot="16200613">
            <a:off x="14487690" y="5916419"/>
            <a:ext cx="1253183" cy="14320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150"/>
                </a:moveTo>
                <a:lnTo>
                  <a:pt x="5400" y="1215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150"/>
                </a:lnTo>
                <a:lnTo>
                  <a:pt x="21600" y="1215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F8F8FA"/>
          </a:solidFill>
          <a:ln w="3175">
            <a:solidFill>
              <a:srgbClr val="F8F8FA"/>
            </a:solidFill>
          </a:ln>
        </p:spPr>
        <p:txBody>
          <a:bodyPr lIns="0" tIns="0" rIns="0" bIns="0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700">
                <a:solidFill>
                  <a:srgbClr val="000000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</a:p>
        </p:txBody>
      </p:sp>
      <p:sp>
        <p:nvSpPr>
          <p:cNvPr id="346" name="b2c"/>
          <p:cNvSpPr txBox="1"/>
          <p:nvPr/>
        </p:nvSpPr>
        <p:spPr>
          <a:xfrm>
            <a:off x="16511410" y="4503581"/>
            <a:ext cx="4589305" cy="1144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8200">
                <a:solidFill>
                  <a:srgbClr val="F8F8F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B2B / B2G</a:t>
            </a:r>
          </a:p>
        </p:txBody>
      </p:sp>
      <p:sp>
        <p:nvSpPr>
          <p:cNvPr id="347" name="b2c-audience"/>
          <p:cNvSpPr txBox="1"/>
          <p:nvPr/>
        </p:nvSpPr>
        <p:spPr>
          <a:xfrm>
            <a:off x="16116960" y="5739355"/>
            <a:ext cx="5657295" cy="349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56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Universities Foundations Public Institutions</a:t>
            </a:r>
          </a:p>
        </p:txBody>
      </p:sp>
      <p:sp>
        <p:nvSpPr>
          <p:cNvPr id="348" name="right-separator"/>
          <p:cNvSpPr/>
          <p:nvPr/>
        </p:nvSpPr>
        <p:spPr>
          <a:xfrm rot="5397878">
            <a:off x="15329391" y="4940800"/>
            <a:ext cx="48782" cy="11906861"/>
          </a:xfrm>
          <a:prstGeom prst="rect">
            <a:avLst/>
          </a:prstGeom>
          <a:solidFill>
            <a:srgbClr val="2B2B31"/>
          </a:solidFill>
          <a:ln w="3175">
            <a:solidFill>
              <a:srgbClr val="2B2B31"/>
            </a:solidFill>
          </a:ln>
        </p:spPr>
        <p:txBody>
          <a:bodyPr lIns="0" tIns="0" rIns="0" bIns="0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9" name="today-label"/>
          <p:cNvSpPr txBox="1"/>
          <p:nvPr/>
        </p:nvSpPr>
        <p:spPr>
          <a:xfrm>
            <a:off x="9422479" y="10156554"/>
            <a:ext cx="162306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91440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F8F8F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lvl1pPr>
          </a:lstStyle>
          <a:p>
            <a:pPr/>
            <a:r>
              <a:t>Future</a:t>
            </a:r>
          </a:p>
        </p:txBody>
      </p:sp>
      <p:sp>
        <p:nvSpPr>
          <p:cNvPr id="350" name="today-copy"/>
          <p:cNvSpPr txBox="1"/>
          <p:nvPr/>
        </p:nvSpPr>
        <p:spPr>
          <a:xfrm>
            <a:off x="9397079" y="11623424"/>
            <a:ext cx="2175511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Institution brings UP²STAGE</a:t>
            </a:r>
          </a:p>
          <a:p>
            <a:pPr defTabSz="914400">
              <a:lnSpc>
                <a:spcPct val="100000"/>
              </a:lnSpc>
              <a:spcBef>
                <a:spcPts val="0"/>
              </a:spcBef>
              <a:defRPr sz="2300">
                <a:solidFill>
                  <a:srgbClr val="A3A1AA"/>
                </a:solidFill>
                <a:latin typeface="Wanted Sans Regular"/>
                <a:ea typeface="Wanted Sans Regular"/>
                <a:cs typeface="Wanted Sans Regular"/>
                <a:sym typeface="Wanted Sans Regular"/>
              </a:defRPr>
            </a:pPr>
            <a:r>
              <a:t>to everyone.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Opportunity for Everyone."/>
          <p:cNvSpPr txBox="1"/>
          <p:nvPr/>
        </p:nvSpPr>
        <p:spPr>
          <a:xfrm>
            <a:off x="1243336" y="5501845"/>
            <a:ext cx="16107967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9600">
                <a:latin typeface="Wanted Sans Black"/>
                <a:ea typeface="Wanted Sans Black"/>
                <a:cs typeface="Wanted Sans Black"/>
                <a:sym typeface="Wanted Sans Black"/>
              </a:defRPr>
            </a:lvl1pPr>
          </a:lstStyle>
          <a:p>
            <a:pPr/>
            <a:r>
              <a:t>Opportunity for Everyone.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